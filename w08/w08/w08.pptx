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4.jpeg" ContentType="image/jpeg"/>
  <Override PartName="/ppt/media/image50.png" ContentType="image/png"/>
  <Override PartName="/ppt/media/image46.png" ContentType="image/png"/>
  <Override PartName="/ppt/media/image45.png" ContentType="image/png"/>
  <Override PartName="/ppt/media/image16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69.png" ContentType="image/png"/>
  <Override PartName="/ppt/media/image32.png" ContentType="image/png"/>
  <Override PartName="/ppt/media/image14.png" ContentType="image/png"/>
  <Override PartName="/ppt/media/image2.png" ContentType="image/png"/>
  <Override PartName="/ppt/media/image33.png" ContentType="image/png"/>
  <Override PartName="/ppt/media/image15.png" ContentType="image/png"/>
  <Override PartName="/ppt/media/image3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65.png" ContentType="image/png"/>
  <Override PartName="/ppt/media/image26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64.png" ContentType="image/png"/>
  <Override PartName="/ppt/media/image27.png" ContentType="image/png"/>
  <Override PartName="/ppt/media/image24.png" ContentType="image/png"/>
  <Override PartName="/ppt/media/image59.png" ContentType="image/png"/>
  <Override PartName="/ppt/media/image22.png" ContentType="image/png"/>
  <Override PartName="/ppt/media/image61.png" ContentType="image/png"/>
  <Override PartName="/ppt/media/image60.png" ContentType="image/png"/>
  <Override PartName="/ppt/media/image23.png" ContentType="image/png"/>
  <Override PartName="/ppt/media/image40.png" ContentType="image/png"/>
  <Override PartName="/ppt/media/image28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4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déplacer la diapo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9F68039-B9F8-43AA-9982-40C684B28C16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dt" idx="7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ftr" idx="8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sldNum" idx="9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dt" idx="10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4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ftr" idx="11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31" name="PlaceHolder 6"/>
          <p:cNvSpPr>
            <a:spLocks noGrp="1"/>
          </p:cNvSpPr>
          <p:nvPr>
            <p:ph type="sldNum" idx="12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13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3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ftr" idx="14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37" name="PlaceHolder 6"/>
          <p:cNvSpPr>
            <a:spLocks noGrp="1"/>
          </p:cNvSpPr>
          <p:nvPr>
            <p:ph type="sldNum" idx="15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dt" idx="16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3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7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8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dt" idx="19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3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 idx="20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sldNum" idx="21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dt" idx="22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280" cy="256644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10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ftr" idx="23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2400" spc="-1" strike="noStrike">
                <a:latin typeface="Times New Roman"/>
              </a:defRPr>
            </a:lvl1pPr>
          </a:lstStyle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255" name="PlaceHolder 6"/>
          <p:cNvSpPr>
            <a:spLocks noGrp="1"/>
          </p:cNvSpPr>
          <p:nvPr>
            <p:ph type="sldNum" idx="24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13DBDD-CB02-4CA2-BFE0-CF87ABD1B2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87CDD2-33B0-4674-8061-0189058746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0481E6-BA4E-45E9-B944-D36C52ACE9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7556A1-1D9C-4D0D-B6C9-6CA48B7DEE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6E75C5-0331-49FC-8411-FD71AD4240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E87399-5C76-4E84-A566-DDE6E8CEED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A800DE-F0CA-4BE9-B989-BBD828D62A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2C3F59-C1A8-48B4-8029-DD64F30843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EA1079-F985-4E80-847A-458F0C12DA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C09E24-C192-4274-BD53-55FF4F7867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17BDEC-7A8E-497D-A535-AF615EBC60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547107-6848-44E3-ABBA-692D851B5E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73BD42-9C24-4B7D-86C2-366D27AE2D3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8" name="Group 3"/>
          <p:cNvGrpSpPr/>
          <p:nvPr/>
        </p:nvGrpSpPr>
        <p:grpSpPr>
          <a:xfrm>
            <a:off x="9360" y="0"/>
            <a:ext cx="18287280" cy="11200680"/>
            <a:chOff x="9360" y="0"/>
            <a:chExt cx="18287280" cy="11200680"/>
          </a:xfrm>
        </p:grpSpPr>
        <p:sp>
          <p:nvSpPr>
            <p:cNvPr id="49" name="Freeform 4"/>
            <p:cNvSpPr/>
            <p:nvPr/>
          </p:nvSpPr>
          <p:spPr>
            <a:xfrm>
              <a:off x="9360" y="0"/>
              <a:ext cx="18287280" cy="11200680"/>
            </a:xfrm>
            <a:custGeom>
              <a:avLst/>
              <a:gdLst/>
              <a:ahLst/>
              <a:rect l="l" t="t" r="r" b="b"/>
              <a:pathLst>
                <a:path w="24384000" h="14935200">
                  <a:moveTo>
                    <a:pt x="0" y="0"/>
                  </a:moveTo>
                  <a:lnTo>
                    <a:pt x="24384000" y="0"/>
                  </a:lnTo>
                  <a:lnTo>
                    <a:pt x="24384000" y="14935200"/>
                  </a:lnTo>
                  <a:lnTo>
                    <a:pt x="0" y="14935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0" name="Group 5"/>
          <p:cNvGrpSpPr/>
          <p:nvPr/>
        </p:nvGrpSpPr>
        <p:grpSpPr>
          <a:xfrm>
            <a:off x="9645840" y="3028320"/>
            <a:ext cx="8325720" cy="5696640"/>
            <a:chOff x="9645840" y="3028320"/>
            <a:chExt cx="8325720" cy="5696640"/>
          </a:xfrm>
        </p:grpSpPr>
        <p:sp>
          <p:nvSpPr>
            <p:cNvPr id="51" name="Freeform 6"/>
            <p:cNvSpPr/>
            <p:nvPr/>
          </p:nvSpPr>
          <p:spPr>
            <a:xfrm>
              <a:off x="9645840" y="3028320"/>
              <a:ext cx="8325720" cy="5696640"/>
            </a:xfrm>
            <a:custGeom>
              <a:avLst/>
              <a:gdLst/>
              <a:ahLst/>
              <a:rect l="l" t="t" r="r" b="b"/>
              <a:pathLst>
                <a:path w="17678400" h="12096430">
                  <a:moveTo>
                    <a:pt x="0" y="0"/>
                  </a:moveTo>
                  <a:lnTo>
                    <a:pt x="17678400" y="0"/>
                  </a:lnTo>
                  <a:lnTo>
                    <a:pt x="17678400" y="12096430"/>
                  </a:lnTo>
                  <a:lnTo>
                    <a:pt x="0" y="1209643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2" name="Group 7"/>
          <p:cNvGrpSpPr/>
          <p:nvPr/>
        </p:nvGrpSpPr>
        <p:grpSpPr>
          <a:xfrm>
            <a:off x="235800" y="3344400"/>
            <a:ext cx="9205200" cy="2883960"/>
            <a:chOff x="235800" y="3344400"/>
            <a:chExt cx="9205200" cy="2883960"/>
          </a:xfrm>
        </p:grpSpPr>
        <p:sp>
          <p:nvSpPr>
            <p:cNvPr id="53" name="Freeform 8"/>
            <p:cNvSpPr/>
            <p:nvPr/>
          </p:nvSpPr>
          <p:spPr>
            <a:xfrm>
              <a:off x="235800" y="3344400"/>
              <a:ext cx="9205200" cy="2883960"/>
            </a:xfrm>
            <a:custGeom>
              <a:avLst/>
              <a:gdLst/>
              <a:ahLst/>
              <a:rect l="l" t="t" r="r" b="b"/>
              <a:pathLst>
                <a:path w="12837686" h="4022821">
                  <a:moveTo>
                    <a:pt x="0" y="0"/>
                  </a:moveTo>
                  <a:lnTo>
                    <a:pt x="12837686" y="0"/>
                  </a:lnTo>
                  <a:lnTo>
                    <a:pt x="12837686" y="4022821"/>
                  </a:lnTo>
                  <a:lnTo>
                    <a:pt x="0" y="4022821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TextBox 9"/>
            <p:cNvSpPr/>
            <p:nvPr/>
          </p:nvSpPr>
          <p:spPr>
            <a:xfrm>
              <a:off x="235800" y="3364920"/>
              <a:ext cx="9205200" cy="286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599"/>
                </a:lnSpc>
                <a:buNone/>
              </a:pPr>
              <a:r>
                <a:rPr b="1" lang="en-US" sz="6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PROJET</a:t>
              </a:r>
              <a:endParaRPr b="0" lang="fr-FR" sz="6000" spc="-1" strike="noStrike">
                <a:latin typeface="Arial"/>
              </a:endParaRPr>
            </a:p>
            <a:p>
              <a:pPr algn="ctr">
                <a:lnSpc>
                  <a:spcPts val="6049"/>
                </a:lnSpc>
                <a:buNone/>
              </a:pPr>
              <a:r>
                <a:rPr b="1" lang="en-US" sz="55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GESTION_DES_CRASHES</a:t>
              </a:r>
              <a:endParaRPr b="0" lang="fr-FR" sz="5500" spc="-1" strike="noStrike">
                <a:latin typeface="Arial"/>
              </a:endParaRPr>
            </a:p>
          </p:txBody>
        </p:sp>
      </p:grpSp>
      <p:grpSp>
        <p:nvGrpSpPr>
          <p:cNvPr id="55" name="Group 10"/>
          <p:cNvGrpSpPr/>
          <p:nvPr/>
        </p:nvGrpSpPr>
        <p:grpSpPr>
          <a:xfrm>
            <a:off x="1314360" y="6523200"/>
            <a:ext cx="7428960" cy="813960"/>
            <a:chOff x="1314360" y="6523200"/>
            <a:chExt cx="7428960" cy="813960"/>
          </a:xfrm>
        </p:grpSpPr>
        <p:sp>
          <p:nvSpPr>
            <p:cNvPr id="56" name="Freeform 11"/>
            <p:cNvSpPr/>
            <p:nvPr/>
          </p:nvSpPr>
          <p:spPr>
            <a:xfrm>
              <a:off x="1314360" y="6537600"/>
              <a:ext cx="7428960" cy="799560"/>
            </a:xfrm>
            <a:custGeom>
              <a:avLst/>
              <a:gdLst/>
              <a:ahLst/>
              <a:rect l="l" t="t" r="r" b="b"/>
              <a:pathLst>
                <a:path w="9906000" h="1066800">
                  <a:moveTo>
                    <a:pt x="0" y="0"/>
                  </a:moveTo>
                  <a:lnTo>
                    <a:pt x="9906000" y="0"/>
                  </a:lnTo>
                  <a:lnTo>
                    <a:pt x="9906000" y="1066800"/>
                  </a:lnTo>
                  <a:lnTo>
                    <a:pt x="0" y="1066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TextBox 12"/>
            <p:cNvSpPr/>
            <p:nvPr/>
          </p:nvSpPr>
          <p:spPr>
            <a:xfrm>
              <a:off x="1314360" y="6523200"/>
              <a:ext cx="7428960" cy="81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240"/>
                </a:lnSpc>
                <a:buNone/>
              </a:pPr>
              <a:r>
                <a:rPr b="0" lang="en-US" sz="2700" spc="-1" strike="noStrike">
                  <a:solidFill>
                    <a:srgbClr val="5d4037"/>
                  </a:solidFill>
                  <a:latin typeface="arial"/>
                  <a:ea typeface="arial"/>
                </a:rPr>
                <a:t>Analyse des crashs système en C++ et Python</a:t>
              </a:r>
              <a:endParaRPr b="0" lang="fr-FR" sz="2700" spc="-1" strike="noStrike">
                <a:latin typeface="Arial"/>
              </a:endParaRPr>
            </a:p>
          </p:txBody>
        </p:sp>
      </p:grpSp>
      <p:sp>
        <p:nvSpPr>
          <p:cNvPr id="58" name="TextBox 13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Freeform 3"/>
          <p:cNvSpPr/>
          <p:nvPr/>
        </p:nvSpPr>
        <p:spPr>
          <a:xfrm>
            <a:off x="4208400" y="185040"/>
            <a:ext cx="9437400" cy="9915840"/>
          </a:xfrm>
          <a:custGeom>
            <a:avLst/>
            <a:gdLst/>
            <a:ahLst/>
            <a:rect l="l" t="t" r="r" b="b"/>
            <a:pathLst>
              <a:path w="9438073" h="9916584">
                <a:moveTo>
                  <a:pt x="0" y="0"/>
                </a:moveTo>
                <a:lnTo>
                  <a:pt x="9438073" y="0"/>
                </a:lnTo>
                <a:lnTo>
                  <a:pt x="9438073" y="9916584"/>
                </a:lnTo>
                <a:lnTo>
                  <a:pt x="0" y="99165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Box 4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2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3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45400" y="1656720"/>
            <a:ext cx="12171960" cy="64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embedded/Build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CoreDump.cpp / .h → code source principal qui gère la capture des crashs.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Options.h → définit les options/configurations du programme.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SystemMetrics.cpp / .h → code qui mesure l’utilisation CPU/mémoire au moment du crash.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endParaRPr b="0" lang="fr-FR" sz="18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images/pc_tools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__pycache__/ → fichiers générés automatiquement par Python (cache).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__init__.py sert à dire à Python :</a:t>
            </a:r>
            <a:endParaRPr b="0" lang="fr-FR" sz="2000" spc="-1" strike="noStrike">
              <a:latin typeface="Arial"/>
            </a:endParaRPr>
          </a:p>
          <a:p>
            <a:pPr lvl="2" marL="863640" indent="-288000">
              <a:lnSpc>
                <a:spcPts val="280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“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ce dossier est un package” et à exécuter du code d’initialisation quand on importe ce package. 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database.py → gère la base SQLite (tables, insertions, requêtes).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import_crash.py → script qui importe les crashs JSON dans la base.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requirements.txt → liste des bibliothèques Python nécessaires.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scripts/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collect_dump.sh → script shell pour collecter un crash dump.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send_to_server.sh → script shell pour envoyer un crash vers un serveur.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endParaRPr b="0" lang="fr-FR" sz="18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45400" y="537480"/>
            <a:ext cx="2728080" cy="18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7279"/>
              </a:lnSpc>
              <a:buNone/>
            </a:pPr>
            <a:r>
              <a:rPr b="1" lang="en-US" sz="5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Fichiers </a:t>
            </a:r>
            <a:endParaRPr b="0" lang="fr-FR" sz="5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2"/>
          <p:cNvSpPr/>
          <p:nvPr/>
        </p:nvSpPr>
        <p:spPr>
          <a:xfrm>
            <a:off x="333360" y="1252440"/>
            <a:ext cx="5952240" cy="1728360"/>
          </a:xfrm>
          <a:custGeom>
            <a:avLst/>
            <a:gdLst/>
            <a:ahLst/>
            <a:rect l="l" t="t" r="r" b="b"/>
            <a:pathLst>
              <a:path w="5952957" h="1728917">
                <a:moveTo>
                  <a:pt x="0" y="0"/>
                </a:moveTo>
                <a:lnTo>
                  <a:pt x="5952957" y="0"/>
                </a:lnTo>
                <a:lnTo>
                  <a:pt x="5952957" y="1728917"/>
                </a:lnTo>
                <a:lnTo>
                  <a:pt x="0" y="17289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Freeform 3"/>
          <p:cNvSpPr/>
          <p:nvPr/>
        </p:nvSpPr>
        <p:spPr>
          <a:xfrm>
            <a:off x="10435320" y="2488680"/>
            <a:ext cx="3168000" cy="6634440"/>
          </a:xfrm>
          <a:custGeom>
            <a:avLst/>
            <a:gdLst/>
            <a:ahLst/>
            <a:rect l="l" t="t" r="r" b="b"/>
            <a:pathLst>
              <a:path w="3168726" h="6635160">
                <a:moveTo>
                  <a:pt x="0" y="0"/>
                </a:moveTo>
                <a:lnTo>
                  <a:pt x="3168726" y="0"/>
                </a:lnTo>
                <a:lnTo>
                  <a:pt x="3168726" y="6635160"/>
                </a:lnTo>
                <a:lnTo>
                  <a:pt x="0" y="66351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Freeform 4"/>
          <p:cNvSpPr/>
          <p:nvPr/>
        </p:nvSpPr>
        <p:spPr>
          <a:xfrm>
            <a:off x="7787880" y="9258480"/>
            <a:ext cx="9615960" cy="792720"/>
          </a:xfrm>
          <a:custGeom>
            <a:avLst/>
            <a:gdLst/>
            <a:ahLst/>
            <a:rect l="l" t="t" r="r" b="b"/>
            <a:pathLst>
              <a:path w="9616834" h="793389">
                <a:moveTo>
                  <a:pt x="0" y="0"/>
                </a:moveTo>
                <a:lnTo>
                  <a:pt x="9616834" y="0"/>
                </a:lnTo>
                <a:lnTo>
                  <a:pt x="9616834" y="793389"/>
                </a:lnTo>
                <a:lnTo>
                  <a:pt x="0" y="7933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Box 5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4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513000" y="679320"/>
            <a:ext cx="32914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mkdir -p build &amp;&amp; cd build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7916400" y="40320"/>
            <a:ext cx="5036760" cy="14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923"/>
              </a:lnSpc>
              <a:buNone/>
            </a:pPr>
            <a:r>
              <a:rPr b="1" lang="en-US" sz="209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➤ </a:t>
            </a:r>
            <a:r>
              <a:rPr b="1" lang="en-US" sz="209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Lancer CMake (configuration)</a:t>
            </a:r>
            <a:endParaRPr b="0" lang="fr-FR" sz="2090" spc="-1" strike="noStrike">
              <a:latin typeface="Arial"/>
            </a:endParaRPr>
          </a:p>
          <a:p>
            <a:pPr>
              <a:lnSpc>
                <a:spcPts val="2923"/>
              </a:lnSpc>
              <a:buNone/>
            </a:pPr>
            <a:r>
              <a:rPr b="1" lang="en-US" sz="20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cmake .. -DCMAKE_BUILD_TYPE=Debug</a:t>
            </a:r>
            <a:endParaRPr b="0" lang="fr-FR" sz="2090" spc="-1" strike="noStrike">
              <a:latin typeface="Arial"/>
            </a:endParaRPr>
          </a:p>
          <a:p>
            <a:pPr>
              <a:lnSpc>
                <a:spcPts val="2923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513000" y="5116680"/>
            <a:ext cx="625284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523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Deux modes de compilation</a:t>
            </a:r>
            <a:endParaRPr b="0" lang="fr-FR" sz="1800" spc="-1" strike="noStrike">
              <a:latin typeface="Arial"/>
            </a:endParaRPr>
          </a:p>
          <a:p>
            <a:pPr lvl="1" marL="389160" indent="-194400">
              <a:lnSpc>
                <a:spcPts val="2523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Open Sans"/>
              </a:rPr>
              <a:t>Debug = Code lent mais lisible (pour développer)</a:t>
            </a:r>
            <a:endParaRPr b="0" lang="fr-FR" sz="1800" spc="-1" strike="noStrike">
              <a:latin typeface="Arial"/>
            </a:endParaRPr>
          </a:p>
          <a:p>
            <a:pPr lvl="1" marL="389160" indent="-194400">
              <a:lnSpc>
                <a:spcPts val="2523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Open Sans"/>
                <a:ea typeface="Open Sans"/>
              </a:rPr>
              <a:t>Release = Code rapide mais optimisé (pour production)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333720" y="3351240"/>
            <a:ext cx="595188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460"/>
              </a:lnSpc>
              <a:buNone/>
            </a:pPr>
            <a:endParaRPr b="0" lang="fr-FR" sz="1800" spc="-1" strike="noStrike">
              <a:latin typeface="Arial"/>
            </a:endParaRPr>
          </a:p>
          <a:p>
            <a:pPr lvl="1" marL="379440" indent="-189720">
              <a:lnSpc>
                <a:spcPts val="246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75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L’option -p</a:t>
            </a:r>
            <a:r>
              <a:rPr b="0" lang="en-US" sz="1750" spc="-1" strike="noStrike">
                <a:solidFill>
                  <a:srgbClr val="000000"/>
                </a:solidFill>
                <a:latin typeface="Open Sans"/>
                <a:ea typeface="Open Sans"/>
              </a:rPr>
              <a:t> : “ne donne pas d’erreur si le dossier existe déjà”.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333720" y="125640"/>
            <a:ext cx="3861000" cy="13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484"/>
              </a:lnSpc>
              <a:buNone/>
            </a:pPr>
            <a:r>
              <a:rPr b="1" lang="en-US" sz="249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➤ </a:t>
            </a:r>
            <a:r>
              <a:rPr b="1" lang="en-US" sz="249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Crée un dossier  build.</a:t>
            </a:r>
            <a:endParaRPr b="0" lang="fr-FR" sz="2490" spc="-1" strike="noStrike">
              <a:latin typeface="Arial"/>
            </a:endParaRPr>
          </a:p>
          <a:p>
            <a:pPr>
              <a:lnSpc>
                <a:spcPts val="3484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8730000" y="924840"/>
            <a:ext cx="932436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cmake ..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lit le fichier CMakeLists.txt 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Il génère les fichiers nécessaires pour compiler projet (Ex. Makefile).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2"/>
          <p:cNvSpPr/>
          <p:nvPr/>
        </p:nvSpPr>
        <p:spPr>
          <a:xfrm>
            <a:off x="1028880" y="1285920"/>
            <a:ext cx="5257080" cy="517680"/>
          </a:xfrm>
          <a:custGeom>
            <a:avLst/>
            <a:gdLst/>
            <a:ahLst/>
            <a:rect l="l" t="t" r="r" b="b"/>
            <a:pathLst>
              <a:path w="5257863" h="518390">
                <a:moveTo>
                  <a:pt x="0" y="0"/>
                </a:moveTo>
                <a:lnTo>
                  <a:pt x="5257863" y="0"/>
                </a:lnTo>
                <a:lnTo>
                  <a:pt x="5257863" y="518390"/>
                </a:lnTo>
                <a:lnTo>
                  <a:pt x="0" y="5183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Freeform 3"/>
          <p:cNvSpPr/>
          <p:nvPr/>
        </p:nvSpPr>
        <p:spPr>
          <a:xfrm>
            <a:off x="982080" y="2118600"/>
            <a:ext cx="5303520" cy="4278240"/>
          </a:xfrm>
          <a:custGeom>
            <a:avLst/>
            <a:gdLst/>
            <a:ahLst/>
            <a:rect l="l" t="t" r="r" b="b"/>
            <a:pathLst>
              <a:path w="5304365" h="4278939">
                <a:moveTo>
                  <a:pt x="0" y="0"/>
                </a:moveTo>
                <a:lnTo>
                  <a:pt x="5304365" y="0"/>
                </a:lnTo>
                <a:lnTo>
                  <a:pt x="5304365" y="4278939"/>
                </a:lnTo>
                <a:lnTo>
                  <a:pt x="0" y="42789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Freeform 4"/>
          <p:cNvSpPr/>
          <p:nvPr/>
        </p:nvSpPr>
        <p:spPr>
          <a:xfrm>
            <a:off x="7146720" y="2118600"/>
            <a:ext cx="5834160" cy="3024360"/>
          </a:xfrm>
          <a:custGeom>
            <a:avLst/>
            <a:gdLst/>
            <a:ahLst/>
            <a:rect l="l" t="t" r="r" b="b"/>
            <a:pathLst>
              <a:path w="5834779" h="3024910">
                <a:moveTo>
                  <a:pt x="0" y="0"/>
                </a:moveTo>
                <a:lnTo>
                  <a:pt x="5834779" y="0"/>
                </a:lnTo>
                <a:lnTo>
                  <a:pt x="5834779" y="3024910"/>
                </a:lnTo>
                <a:lnTo>
                  <a:pt x="0" y="30249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Freeform 5"/>
          <p:cNvSpPr/>
          <p:nvPr/>
        </p:nvSpPr>
        <p:spPr>
          <a:xfrm>
            <a:off x="6873840" y="5461560"/>
            <a:ext cx="8795160" cy="4597200"/>
          </a:xfrm>
          <a:custGeom>
            <a:avLst/>
            <a:gdLst/>
            <a:ahLst/>
            <a:rect l="l" t="t" r="r" b="b"/>
            <a:pathLst>
              <a:path w="8795987" h="4597902">
                <a:moveTo>
                  <a:pt x="0" y="0"/>
                </a:moveTo>
                <a:lnTo>
                  <a:pt x="8795987" y="0"/>
                </a:lnTo>
                <a:lnTo>
                  <a:pt x="8795987" y="4597902"/>
                </a:lnTo>
                <a:lnTo>
                  <a:pt x="0" y="45979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Freeform 6"/>
          <p:cNvSpPr/>
          <p:nvPr/>
        </p:nvSpPr>
        <p:spPr>
          <a:xfrm>
            <a:off x="7146720" y="1189440"/>
            <a:ext cx="3497400" cy="613800"/>
          </a:xfrm>
          <a:custGeom>
            <a:avLst/>
            <a:gdLst/>
            <a:ahLst/>
            <a:rect l="l" t="t" r="r" b="b"/>
            <a:pathLst>
              <a:path w="3497965" h="614658">
                <a:moveTo>
                  <a:pt x="0" y="0"/>
                </a:moveTo>
                <a:lnTo>
                  <a:pt x="3497964" y="0"/>
                </a:lnTo>
                <a:lnTo>
                  <a:pt x="3497964" y="614659"/>
                </a:lnTo>
                <a:lnTo>
                  <a:pt x="0" y="6146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Box 7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5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317520" y="66240"/>
            <a:ext cx="142088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59"/>
              </a:lnSpc>
              <a:buNone/>
            </a:pPr>
            <a:r>
              <a:rPr b="1" lang="en-US" sz="24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CMakeLists.txt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632880" y="655920"/>
            <a:ext cx="678888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But : dire à CMake comment compiler ton projet 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7146720" y="5105520"/>
            <a:ext cx="638640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Open Sans"/>
                <a:ea typeface="Open Sans"/>
              </a:rPr>
              <a:t>"Utilise le standard C++17 pour compiler le code."</a:t>
            </a:r>
            <a:endParaRPr b="0" lang="fr-FR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2"/>
          <p:cNvSpPr/>
          <p:nvPr/>
        </p:nvSpPr>
        <p:spPr>
          <a:xfrm>
            <a:off x="1028880" y="624600"/>
            <a:ext cx="4699080" cy="2990160"/>
          </a:xfrm>
          <a:custGeom>
            <a:avLst/>
            <a:gdLst/>
            <a:ahLst/>
            <a:rect l="l" t="t" r="r" b="b"/>
            <a:pathLst>
              <a:path w="4699886" h="2990837">
                <a:moveTo>
                  <a:pt x="0" y="0"/>
                </a:moveTo>
                <a:lnTo>
                  <a:pt x="4699886" y="0"/>
                </a:lnTo>
                <a:lnTo>
                  <a:pt x="4699886" y="2990837"/>
                </a:lnTo>
                <a:lnTo>
                  <a:pt x="0" y="2990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Freeform 3"/>
          <p:cNvSpPr/>
          <p:nvPr/>
        </p:nvSpPr>
        <p:spPr>
          <a:xfrm>
            <a:off x="1011600" y="4370760"/>
            <a:ext cx="5956920" cy="771840"/>
          </a:xfrm>
          <a:custGeom>
            <a:avLst/>
            <a:gdLst/>
            <a:ahLst/>
            <a:rect l="l" t="t" r="r" b="b"/>
            <a:pathLst>
              <a:path w="5957626" h="772603">
                <a:moveTo>
                  <a:pt x="0" y="0"/>
                </a:moveTo>
                <a:lnTo>
                  <a:pt x="5957626" y="0"/>
                </a:lnTo>
                <a:lnTo>
                  <a:pt x="5957626" y="772603"/>
                </a:lnTo>
                <a:lnTo>
                  <a:pt x="0" y="7726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Freeform 4"/>
          <p:cNvSpPr/>
          <p:nvPr/>
        </p:nvSpPr>
        <p:spPr>
          <a:xfrm>
            <a:off x="613800" y="6568920"/>
            <a:ext cx="6735600" cy="2030760"/>
          </a:xfrm>
          <a:custGeom>
            <a:avLst/>
            <a:gdLst/>
            <a:ahLst/>
            <a:rect l="l" t="t" r="r" b="b"/>
            <a:pathLst>
              <a:path w="6736283" h="2031577">
                <a:moveTo>
                  <a:pt x="0" y="0"/>
                </a:moveTo>
                <a:lnTo>
                  <a:pt x="6736283" y="0"/>
                </a:lnTo>
                <a:lnTo>
                  <a:pt x="6736283" y="2031577"/>
                </a:lnTo>
                <a:lnTo>
                  <a:pt x="0" y="20315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Freeform 5"/>
          <p:cNvSpPr/>
          <p:nvPr/>
        </p:nvSpPr>
        <p:spPr>
          <a:xfrm>
            <a:off x="9109800" y="1456200"/>
            <a:ext cx="8221680" cy="663120"/>
          </a:xfrm>
          <a:custGeom>
            <a:avLst/>
            <a:gdLst/>
            <a:ahLst/>
            <a:rect l="l" t="t" r="r" b="b"/>
            <a:pathLst>
              <a:path w="8222262" h="663741">
                <a:moveTo>
                  <a:pt x="0" y="0"/>
                </a:moveTo>
                <a:lnTo>
                  <a:pt x="8222262" y="0"/>
                </a:lnTo>
                <a:lnTo>
                  <a:pt x="8222262" y="663742"/>
                </a:lnTo>
                <a:lnTo>
                  <a:pt x="0" y="66374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Freeform 6"/>
          <p:cNvSpPr/>
          <p:nvPr/>
        </p:nvSpPr>
        <p:spPr>
          <a:xfrm>
            <a:off x="8848080" y="3036960"/>
            <a:ext cx="9210960" cy="1287000"/>
          </a:xfrm>
          <a:custGeom>
            <a:avLst/>
            <a:gdLst/>
            <a:ahLst/>
            <a:rect l="l" t="t" r="r" b="b"/>
            <a:pathLst>
              <a:path w="9211555" h="1287637">
                <a:moveTo>
                  <a:pt x="0" y="0"/>
                </a:moveTo>
                <a:lnTo>
                  <a:pt x="9211556" y="0"/>
                </a:lnTo>
                <a:lnTo>
                  <a:pt x="9211556" y="1287637"/>
                </a:lnTo>
                <a:lnTo>
                  <a:pt x="0" y="12876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Freeform 7"/>
          <p:cNvSpPr/>
          <p:nvPr/>
        </p:nvSpPr>
        <p:spPr>
          <a:xfrm>
            <a:off x="9471960" y="5042880"/>
            <a:ext cx="6672240" cy="5243400"/>
          </a:xfrm>
          <a:custGeom>
            <a:avLst/>
            <a:gdLst/>
            <a:ahLst/>
            <a:rect l="l" t="t" r="r" b="b"/>
            <a:pathLst>
              <a:path w="6672998" h="5244021">
                <a:moveTo>
                  <a:pt x="0" y="0"/>
                </a:moveTo>
                <a:lnTo>
                  <a:pt x="6672998" y="0"/>
                </a:lnTo>
                <a:lnTo>
                  <a:pt x="6672998" y="5244021"/>
                </a:lnTo>
                <a:lnTo>
                  <a:pt x="0" y="52440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Box 8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6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613800" y="3794760"/>
            <a:ext cx="46990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🎬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 14 : Créer l'exécutable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13800" y="5105520"/>
            <a:ext cx="6752160" cy="10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662"/>
              </a:lnSpc>
              <a:buNone/>
            </a:pPr>
            <a:endParaRPr b="0" lang="fr-FR" sz="1800" spc="-1" strike="noStrike">
              <a:latin typeface="Arial"/>
            </a:endParaRPr>
          </a:p>
          <a:p>
            <a:pPr algn="ctr">
              <a:lnSpc>
                <a:spcPts val="2662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Open Sans"/>
                <a:ea typeface="Open Sans"/>
              </a:rPr>
              <a:t>"Crée un exécutable nommé CoreDumpApp en compilant tous les fichiers de la variable SOURCES."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9141120" y="646560"/>
            <a:ext cx="58093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🎬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 16 : Définir où chercher les fichiers .h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7934760" y="2403000"/>
            <a:ext cx="103525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"Quand on compiles CoreDumpApp, cherche les fichiers .h dans le dossier courant."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8671680" y="4561560"/>
            <a:ext cx="39369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🎬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Lignes 18-39 : Configuration 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2"/>
          <p:cNvSpPr/>
          <p:nvPr/>
        </p:nvSpPr>
        <p:spPr>
          <a:xfrm>
            <a:off x="1266120" y="1718280"/>
            <a:ext cx="7055280" cy="449640"/>
          </a:xfrm>
          <a:custGeom>
            <a:avLst/>
            <a:gdLst/>
            <a:ahLst/>
            <a:rect l="l" t="t" r="r" b="b"/>
            <a:pathLst>
              <a:path w="7055907" h="450519">
                <a:moveTo>
                  <a:pt x="0" y="0"/>
                </a:moveTo>
                <a:lnTo>
                  <a:pt x="7055908" y="0"/>
                </a:lnTo>
                <a:lnTo>
                  <a:pt x="7055908" y="450520"/>
                </a:lnTo>
                <a:lnTo>
                  <a:pt x="0" y="4505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Freeform 3"/>
          <p:cNvSpPr/>
          <p:nvPr/>
        </p:nvSpPr>
        <p:spPr>
          <a:xfrm>
            <a:off x="0" y="4646880"/>
            <a:ext cx="8580600" cy="5639400"/>
          </a:xfrm>
          <a:custGeom>
            <a:avLst/>
            <a:gdLst/>
            <a:ahLst/>
            <a:rect l="l" t="t" r="r" b="b"/>
            <a:pathLst>
              <a:path w="8581428" h="5640148">
                <a:moveTo>
                  <a:pt x="0" y="0"/>
                </a:moveTo>
                <a:lnTo>
                  <a:pt x="8581428" y="0"/>
                </a:lnTo>
                <a:lnTo>
                  <a:pt x="8581428" y="5640148"/>
                </a:lnTo>
                <a:lnTo>
                  <a:pt x="0" y="56401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Freeform 4"/>
          <p:cNvSpPr/>
          <p:nvPr/>
        </p:nvSpPr>
        <p:spPr>
          <a:xfrm>
            <a:off x="10548720" y="5495760"/>
            <a:ext cx="7482600" cy="492480"/>
          </a:xfrm>
          <a:custGeom>
            <a:avLst/>
            <a:gdLst/>
            <a:ahLst/>
            <a:rect l="l" t="t" r="r" b="b"/>
            <a:pathLst>
              <a:path w="7483334" h="493252">
                <a:moveTo>
                  <a:pt x="0" y="0"/>
                </a:moveTo>
                <a:lnTo>
                  <a:pt x="7483334" y="0"/>
                </a:lnTo>
                <a:lnTo>
                  <a:pt x="7483334" y="493252"/>
                </a:lnTo>
                <a:lnTo>
                  <a:pt x="0" y="4932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Box 5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7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435600" y="391320"/>
            <a:ext cx="485892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</a:pPr>
            <a:r>
              <a:rPr b="1" lang="en-US" sz="21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</a:t>
            </a:r>
            <a:r>
              <a:rPr b="1" lang="en-US" sz="21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 21 : Lier les librairies Windows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1266120" y="2482920"/>
            <a:ext cx="1104696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Open Sans"/>
                <a:ea typeface="Open Sans"/>
              </a:rPr>
              <a:t>"Sur Windows, utilise les librairies psapi et dbghelp pour les fonctionnalités système."</a:t>
            </a:r>
            <a:endParaRPr b="0" lang="fr-FR" sz="2100" spc="-1" strike="noStrike"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028880" y="3798000"/>
            <a:ext cx="115902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"Si tu utilises Visual Studio, utilise les options MSVC. Sinon (MinGW/Clang), utilise les options GCC."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363960" y="3144240"/>
            <a:ext cx="69602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Lignes 23-29 : Options de compilation (MSVC vs MinGW)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435600" y="1052280"/>
            <a:ext cx="11046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dit à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CMake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de lier ton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application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avec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les bibliothèques nécessaires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11694600" y="6504480"/>
            <a:ext cx="55206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Sur Linux, utilise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pthread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pour les threads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dl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pour le backtrace.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10292760" y="4794120"/>
            <a:ext cx="44100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➤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 33 : Lier les librairies Linux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7" name="AutoShape 13"/>
          <p:cNvSpPr/>
          <p:nvPr/>
        </p:nvSpPr>
        <p:spPr>
          <a:xfrm>
            <a:off x="9765000" y="4841640"/>
            <a:ext cx="360" cy="5445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 2"/>
          <p:cNvSpPr/>
          <p:nvPr/>
        </p:nvSpPr>
        <p:spPr>
          <a:xfrm>
            <a:off x="1028880" y="469440"/>
            <a:ext cx="6161400" cy="1553760"/>
          </a:xfrm>
          <a:custGeom>
            <a:avLst/>
            <a:gdLst/>
            <a:ahLst/>
            <a:rect l="l" t="t" r="r" b="b"/>
            <a:pathLst>
              <a:path w="6162207" h="1554557">
                <a:moveTo>
                  <a:pt x="0" y="0"/>
                </a:moveTo>
                <a:lnTo>
                  <a:pt x="6162207" y="0"/>
                </a:lnTo>
                <a:lnTo>
                  <a:pt x="6162207" y="1554557"/>
                </a:lnTo>
                <a:lnTo>
                  <a:pt x="0" y="15545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Freeform 3"/>
          <p:cNvSpPr/>
          <p:nvPr/>
        </p:nvSpPr>
        <p:spPr>
          <a:xfrm>
            <a:off x="9332640" y="469440"/>
            <a:ext cx="8623080" cy="1708200"/>
          </a:xfrm>
          <a:custGeom>
            <a:avLst/>
            <a:gdLst/>
            <a:ahLst/>
            <a:rect l="l" t="t" r="r" b="b"/>
            <a:pathLst>
              <a:path w="8623778" h="1709076">
                <a:moveTo>
                  <a:pt x="0" y="0"/>
                </a:moveTo>
                <a:lnTo>
                  <a:pt x="8623778" y="0"/>
                </a:lnTo>
                <a:lnTo>
                  <a:pt x="8623778" y="1709076"/>
                </a:lnTo>
                <a:lnTo>
                  <a:pt x="0" y="17090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Freeform 4"/>
          <p:cNvSpPr/>
          <p:nvPr/>
        </p:nvSpPr>
        <p:spPr>
          <a:xfrm>
            <a:off x="8794440" y="5282640"/>
            <a:ext cx="8609400" cy="403560"/>
          </a:xfrm>
          <a:custGeom>
            <a:avLst/>
            <a:gdLst/>
            <a:ahLst/>
            <a:rect l="l" t="t" r="r" b="b"/>
            <a:pathLst>
              <a:path w="8610055" h="404192">
                <a:moveTo>
                  <a:pt x="0" y="0"/>
                </a:moveTo>
                <a:lnTo>
                  <a:pt x="8610055" y="0"/>
                </a:lnTo>
                <a:lnTo>
                  <a:pt x="8610055" y="404192"/>
                </a:lnTo>
                <a:lnTo>
                  <a:pt x="0" y="4041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Box 5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8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78480" y="2495160"/>
            <a:ext cx="7783920" cy="41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387360" indent="-193680">
              <a:lnSpc>
                <a:spcPts val="251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target_compile_options 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: ajoute des options de compilation pour CoreDumpApp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-Wall → tout warnings.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-Wextra → plus des warnings .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-Wpedantic → respect strict standard.</a:t>
            </a:r>
            <a:endParaRPr b="0" lang="fr-FR" sz="1790" spc="-1" strike="noStrike">
              <a:latin typeface="Arial"/>
            </a:endParaRPr>
          </a:p>
          <a:p>
            <a:pPr lvl="1" marL="387360" indent="-193680">
              <a:lnSpc>
                <a:spcPts val="251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$ &lt;$&lt;...&gt;:...&gt; ?</a:t>
            </a:r>
            <a:endParaRPr b="0" lang="fr-FR" sz="1790" spc="-1" strike="noStrike">
              <a:latin typeface="Arial"/>
            </a:endParaRPr>
          </a:p>
          <a:p>
            <a:pPr>
              <a:lnSpc>
                <a:spcPts val="2511"/>
              </a:lnSpc>
              <a:buNone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🎭 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C'est une condition en CMake : "Si on est dans telle situation, utilise ces options. Sinon, ignore-les."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-g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 → Pour utiliser </a:t>
            </a: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gdb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 et voir les variables/fonctions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-</a:t>
            </a: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O0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 → sans optimisation.</a:t>
            </a:r>
            <a:endParaRPr b="0" lang="fr-FR" sz="1790" spc="-1" strike="noStrike">
              <a:latin typeface="Arial"/>
            </a:endParaRPr>
          </a:p>
          <a:p>
            <a:pPr lvl="2" marL="774720" indent="-258120">
              <a:lnSpc>
                <a:spcPts val="2511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-</a:t>
            </a:r>
            <a:r>
              <a:rPr b="1" lang="en-US" sz="179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rdynamic</a:t>
            </a: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 → Permet d`affiche symbols dans backtrace.</a:t>
            </a:r>
            <a:endParaRPr b="0" lang="fr-FR" sz="1790" spc="-1" strike="noStrike">
              <a:latin typeface="Arial"/>
            </a:endParaRPr>
          </a:p>
          <a:p>
            <a:pPr>
              <a:lnSpc>
                <a:spcPts val="2511"/>
              </a:lnSpc>
              <a:buNone/>
            </a:pPr>
            <a:endParaRPr b="0" lang="fr-FR" sz="1800" spc="-1" strike="noStrike">
              <a:latin typeface="Arial"/>
            </a:endParaRPr>
          </a:p>
          <a:p>
            <a:pPr>
              <a:lnSpc>
                <a:spcPts val="2511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8555040" y="2476080"/>
            <a:ext cx="9732240" cy="24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set_target_properties :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permet de définir des propriétés pour  CoreDumpApp.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LINK_FLAGS :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ajoute des options au linker 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-Wl,--section-start=.no_init=0x60000000 :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dit au linker de placer la section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.no_init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à l’adresse mémoire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0x60000000.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.no_init =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zone mémoire qui n’est pas réinitialisée au reboot.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8598960" y="5982120"/>
            <a:ext cx="9688320" cy="35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option(...) :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crée une option configurable dans CMake.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Nom :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ENABLE_HARD_FAULT_TEST.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Description :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“Trigger divide-by-zero instead of SIGABRT”</a:t>
            </a:r>
            <a:endParaRPr b="0" lang="fr-FR" sz="2000" spc="-1" strike="noStrike">
              <a:latin typeface="Arial"/>
            </a:endParaRPr>
          </a:p>
          <a:p>
            <a:pPr lvl="2" marL="863640" indent="-288000">
              <a:lnSpc>
                <a:spcPts val="2801"/>
              </a:lnSpc>
              <a:buClr>
                <a:srgbClr val="000000"/>
              </a:buClr>
              <a:buFont typeface="Arial"/>
              <a:buChar char="⚬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→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si activée, le programme provoquera une division par zéro au lieu d’envoyer un signal SIGABRT.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Valeur par défaut :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OFF (désactivée).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target_compile_definitions(CoreDumpApp PRIVATE HARD_FAULT_TEST)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: ajoute une macro de compilation (HARD_FAULT_TEST) uniquement pour CoreDumpApp.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ts val="2801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15" name="AutoShape 9"/>
          <p:cNvSpPr/>
          <p:nvPr/>
        </p:nvSpPr>
        <p:spPr>
          <a:xfrm>
            <a:off x="8133480" y="0"/>
            <a:ext cx="360" cy="102870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reeform 2"/>
          <p:cNvSpPr/>
          <p:nvPr/>
        </p:nvSpPr>
        <p:spPr>
          <a:xfrm>
            <a:off x="2583720" y="3401280"/>
            <a:ext cx="13119840" cy="1741320"/>
          </a:xfrm>
          <a:custGeom>
            <a:avLst/>
            <a:gdLst/>
            <a:ahLst/>
            <a:rect l="l" t="t" r="r" b="b"/>
            <a:pathLst>
              <a:path w="13120730" h="1742149">
                <a:moveTo>
                  <a:pt x="0" y="0"/>
                </a:moveTo>
                <a:lnTo>
                  <a:pt x="13120730" y="0"/>
                </a:lnTo>
                <a:lnTo>
                  <a:pt x="13120730" y="1742149"/>
                </a:lnTo>
                <a:lnTo>
                  <a:pt x="0" y="17421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Box 3"/>
          <p:cNvSpPr/>
          <p:nvPr/>
        </p:nvSpPr>
        <p:spPr>
          <a:xfrm>
            <a:off x="17254800" y="9210600"/>
            <a:ext cx="161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9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2894040" y="2377800"/>
            <a:ext cx="28800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➤ </a:t>
            </a:r>
            <a:r>
              <a:rPr b="1" lang="en-US" sz="20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Compiler avec Make</a:t>
            </a:r>
            <a:endParaRPr b="0" lang="fr-FR" sz="2000" spc="-1" strike="noStrike">
              <a:latin typeface="Arial"/>
            </a:endParaRPr>
          </a:p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make  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2657520" y="5716440"/>
            <a:ext cx="1158876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make est un outil qui lit un fichier Makefile.</a:t>
            </a:r>
            <a:endParaRPr b="0" lang="fr-FR" sz="2000" spc="-1" strike="noStrike">
              <a:latin typeface="Arial"/>
            </a:endParaRPr>
          </a:p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Ce fichier contient des règles expliquant comment compiler le projet ( .cpp transformer en .o)  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2"/>
          <p:cNvSpPr/>
          <p:nvPr/>
        </p:nvSpPr>
        <p:spPr>
          <a:xfrm>
            <a:off x="0" y="2291040"/>
            <a:ext cx="6248880" cy="7750800"/>
          </a:xfrm>
          <a:custGeom>
            <a:avLst/>
            <a:gdLst/>
            <a:ahLst/>
            <a:rect l="l" t="t" r="r" b="b"/>
            <a:pathLst>
              <a:path w="6249440" h="7751406">
                <a:moveTo>
                  <a:pt x="0" y="0"/>
                </a:moveTo>
                <a:lnTo>
                  <a:pt x="6249440" y="0"/>
                </a:lnTo>
                <a:lnTo>
                  <a:pt x="6249440" y="7751405"/>
                </a:lnTo>
                <a:lnTo>
                  <a:pt x="0" y="77514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Freeform 3"/>
          <p:cNvSpPr/>
          <p:nvPr/>
        </p:nvSpPr>
        <p:spPr>
          <a:xfrm>
            <a:off x="6249600" y="2291040"/>
            <a:ext cx="6173280" cy="7832880"/>
          </a:xfrm>
          <a:custGeom>
            <a:avLst/>
            <a:gdLst/>
            <a:ahLst/>
            <a:rect l="l" t="t" r="r" b="b"/>
            <a:pathLst>
              <a:path w="6173828" h="7833677">
                <a:moveTo>
                  <a:pt x="0" y="0"/>
                </a:moveTo>
                <a:lnTo>
                  <a:pt x="6173828" y="0"/>
                </a:lnTo>
                <a:lnTo>
                  <a:pt x="6173828" y="7833677"/>
                </a:lnTo>
                <a:lnTo>
                  <a:pt x="0" y="78336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Freeform 4"/>
          <p:cNvSpPr/>
          <p:nvPr/>
        </p:nvSpPr>
        <p:spPr>
          <a:xfrm>
            <a:off x="12423240" y="1981080"/>
            <a:ext cx="6175800" cy="8060400"/>
          </a:xfrm>
          <a:custGeom>
            <a:avLst/>
            <a:gdLst/>
            <a:ahLst/>
            <a:rect l="l" t="t" r="r" b="b"/>
            <a:pathLst>
              <a:path w="6176363" h="8061062">
                <a:moveTo>
                  <a:pt x="0" y="0"/>
                </a:moveTo>
                <a:lnTo>
                  <a:pt x="6176363" y="0"/>
                </a:lnTo>
                <a:lnTo>
                  <a:pt x="6176363" y="8061062"/>
                </a:lnTo>
                <a:lnTo>
                  <a:pt x="0" y="80610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Box 5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10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629280" y="514440"/>
            <a:ext cx="314892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201"/>
              </a:lnSpc>
              <a:buNone/>
            </a:pPr>
            <a:r>
              <a:rPr b="1" lang="en-US" sz="30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Fechier Makefile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871640" y="1332720"/>
            <a:ext cx="6306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contient les instructions pour compiler ton projet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Freeform 3"/>
          <p:cNvSpPr/>
          <p:nvPr/>
        </p:nvSpPr>
        <p:spPr>
          <a:xfrm>
            <a:off x="691200" y="1623600"/>
            <a:ext cx="4088160" cy="7626240"/>
          </a:xfrm>
          <a:custGeom>
            <a:avLst/>
            <a:gdLst/>
            <a:ahLst/>
            <a:rect l="l" t="t" r="r" b="b"/>
            <a:pathLst>
              <a:path w="4088889" h="7627125">
                <a:moveTo>
                  <a:pt x="0" y="0"/>
                </a:moveTo>
                <a:lnTo>
                  <a:pt x="4088889" y="0"/>
                </a:lnTo>
                <a:lnTo>
                  <a:pt x="4088889" y="7627125"/>
                </a:lnTo>
                <a:lnTo>
                  <a:pt x="0" y="76271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Freeform 4"/>
          <p:cNvSpPr/>
          <p:nvPr/>
        </p:nvSpPr>
        <p:spPr>
          <a:xfrm>
            <a:off x="10307880" y="1623600"/>
            <a:ext cx="5549040" cy="7412040"/>
          </a:xfrm>
          <a:custGeom>
            <a:avLst/>
            <a:gdLst/>
            <a:ahLst/>
            <a:rect l="l" t="t" r="r" b="b"/>
            <a:pathLst>
              <a:path w="5549598" h="7412868">
                <a:moveTo>
                  <a:pt x="0" y="0"/>
                </a:moveTo>
                <a:lnTo>
                  <a:pt x="5549598" y="0"/>
                </a:lnTo>
                <a:lnTo>
                  <a:pt x="5549598" y="7412868"/>
                </a:lnTo>
                <a:lnTo>
                  <a:pt x="0" y="74128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Freeform 5"/>
          <p:cNvSpPr/>
          <p:nvPr/>
        </p:nvSpPr>
        <p:spPr>
          <a:xfrm>
            <a:off x="0" y="9360720"/>
            <a:ext cx="9493920" cy="925560"/>
          </a:xfrm>
          <a:custGeom>
            <a:avLst/>
            <a:gdLst/>
            <a:ahLst/>
            <a:rect l="l" t="t" r="r" b="b"/>
            <a:pathLst>
              <a:path w="9494527" h="926333">
                <a:moveTo>
                  <a:pt x="0" y="0"/>
                </a:moveTo>
                <a:lnTo>
                  <a:pt x="9494527" y="0"/>
                </a:lnTo>
                <a:lnTo>
                  <a:pt x="9494527" y="926333"/>
                </a:lnTo>
                <a:lnTo>
                  <a:pt x="0" y="9263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Freeform 6"/>
          <p:cNvSpPr/>
          <p:nvPr/>
        </p:nvSpPr>
        <p:spPr>
          <a:xfrm>
            <a:off x="9903240" y="9360720"/>
            <a:ext cx="7947360" cy="727560"/>
          </a:xfrm>
          <a:custGeom>
            <a:avLst/>
            <a:gdLst/>
            <a:ahLst/>
            <a:rect l="l" t="t" r="r" b="b"/>
            <a:pathLst>
              <a:path w="7948075" h="728227">
                <a:moveTo>
                  <a:pt x="0" y="0"/>
                </a:moveTo>
                <a:lnTo>
                  <a:pt x="7948075" y="0"/>
                </a:lnTo>
                <a:lnTo>
                  <a:pt x="7948075" y="728226"/>
                </a:lnTo>
                <a:lnTo>
                  <a:pt x="0" y="7282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Box 7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4aad"/>
                </a:solidFill>
                <a:latin typeface="Open Sans"/>
                <a:ea typeface="Open Sans"/>
              </a:rPr>
              <a:t>11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269640" y="95040"/>
            <a:ext cx="123300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948"/>
              </a:lnSpc>
              <a:buNone/>
            </a:pPr>
            <a:r>
              <a:rPr b="1" lang="en-US" sz="211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main.cpp</a:t>
            </a:r>
            <a:endParaRPr b="0" lang="fr-FR" sz="2110" spc="-1" strike="noStrike"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0" y="1064880"/>
            <a:ext cx="624132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356"/>
              </a:lnSpc>
              <a:buNone/>
            </a:pPr>
            <a:r>
              <a:rPr b="1" lang="en-US" sz="1679" spc="-1" strike="noStrike">
                <a:solidFill>
                  <a:srgbClr val="004aad"/>
                </a:solidFill>
                <a:latin typeface="Open Sans Bold"/>
                <a:ea typeface="Open Sans Bold"/>
              </a:rPr>
              <a:t>Bureau/pfe/w07/CoreDump-main/embedded/build </a:t>
            </a:r>
            <a:endParaRPr b="0" lang="fr-FR" sz="1679" spc="-1" strike="noStrike">
              <a:latin typeface="Arial"/>
            </a:endParaRPr>
          </a:p>
          <a:p>
            <a:pPr algn="ctr">
              <a:lnSpc>
                <a:spcPts val="2356"/>
              </a:lnSpc>
              <a:buNone/>
            </a:pPr>
            <a:r>
              <a:rPr b="1" lang="en-US" sz="1679" spc="-1" strike="noStrike">
                <a:solidFill>
                  <a:srgbClr val="004aad"/>
                </a:solidFill>
                <a:latin typeface="Open Sans Bold"/>
                <a:ea typeface="Open Sans Bold"/>
              </a:rPr>
              <a:t>Scénario A : ./CoreDumpApp --test</a:t>
            </a:r>
            <a:endParaRPr b="0" lang="fr-FR" sz="1679" spc="-1" strike="noStrike"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10495080" y="1055520"/>
            <a:ext cx="7355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4aad"/>
                </a:solidFill>
                <a:latin typeface="Open Sans Bold"/>
                <a:ea typeface="Open Sans Bold"/>
              </a:rPr>
              <a:t> </a:t>
            </a:r>
            <a:r>
              <a:rPr b="1" lang="en-US" sz="2000" spc="-1" strike="noStrike">
                <a:solidFill>
                  <a:srgbClr val="004aad"/>
                </a:solidFill>
                <a:latin typeface="Open Sans Bold"/>
                <a:ea typeface="Open Sans Bold"/>
              </a:rPr>
              <a:t>Scénario B : ./CoreDumpApp (sans argument)</a:t>
            </a:r>
            <a:endParaRPr b="0" lang="fr-FR" sz="2000" spc="-1" strike="noStrike">
              <a:latin typeface="Arial"/>
            </a:endParaRPr>
          </a:p>
        </p:txBody>
      </p:sp>
      <p:grpSp>
        <p:nvGrpSpPr>
          <p:cNvPr id="135" name="Group 11"/>
          <p:cNvGrpSpPr/>
          <p:nvPr/>
        </p:nvGrpSpPr>
        <p:grpSpPr>
          <a:xfrm>
            <a:off x="5621040" y="-292320"/>
            <a:ext cx="27473040" cy="1394640"/>
            <a:chOff x="5621040" y="-292320"/>
            <a:chExt cx="27473040" cy="1394640"/>
          </a:xfrm>
        </p:grpSpPr>
        <p:sp>
          <p:nvSpPr>
            <p:cNvPr id="136" name="Freeform 12"/>
            <p:cNvSpPr/>
            <p:nvPr/>
          </p:nvSpPr>
          <p:spPr>
            <a:xfrm>
              <a:off x="5621040" y="-292320"/>
              <a:ext cx="27473040" cy="1394640"/>
            </a:xfrm>
            <a:custGeom>
              <a:avLst/>
              <a:gdLst/>
              <a:ahLst/>
              <a:rect l="l" t="t" r="r" b="b"/>
              <a:pathLst>
                <a:path w="36631736" h="1860497">
                  <a:moveTo>
                    <a:pt x="0" y="0"/>
                  </a:moveTo>
                  <a:lnTo>
                    <a:pt x="36631736" y="0"/>
                  </a:lnTo>
                  <a:lnTo>
                    <a:pt x="36631736" y="1860497"/>
                  </a:lnTo>
                  <a:lnTo>
                    <a:pt x="0" y="1860497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TextBox 13"/>
            <p:cNvSpPr/>
            <p:nvPr/>
          </p:nvSpPr>
          <p:spPr>
            <a:xfrm>
              <a:off x="5621040" y="-285120"/>
              <a:ext cx="27473040" cy="138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300"/>
                </a:lnSpc>
                <a:buNone/>
              </a:pPr>
              <a:r>
                <a:rPr b="1" lang="en-US" sz="3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-Exécution de l’application CoreDumpApp</a:t>
              </a:r>
              <a:endParaRPr b="0" lang="fr-FR" sz="3000" spc="-1" strike="noStrike">
                <a:latin typeface="Arial"/>
              </a:endParaRPr>
            </a:p>
          </p:txBody>
        </p:sp>
      </p:grpSp>
      <p:sp>
        <p:nvSpPr>
          <p:cNvPr id="138" name="TextBox 14"/>
          <p:cNvSpPr/>
          <p:nvPr/>
        </p:nvSpPr>
        <p:spPr>
          <a:xfrm>
            <a:off x="2480400" y="6797520"/>
            <a:ext cx="290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364"/>
              </a:lnSpc>
              <a:buNone/>
            </a:pPr>
            <a:r>
              <a:rPr b="0" lang="en-US" sz="1690" spc="-1" strike="noStrike">
                <a:solidFill>
                  <a:srgbClr val="000000"/>
                </a:solidFill>
                <a:latin typeface="Open Sans"/>
                <a:ea typeface="Open Sans"/>
              </a:rPr>
              <a:t>// Divide-by-zero → SIGFPE</a:t>
            </a:r>
            <a:endParaRPr b="0" lang="fr-FR" sz="16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 2"/>
          <p:cNvSpPr/>
          <p:nvPr/>
        </p:nvSpPr>
        <p:spPr>
          <a:xfrm>
            <a:off x="637920" y="2213280"/>
            <a:ext cx="7017840" cy="806760"/>
          </a:xfrm>
          <a:custGeom>
            <a:avLst/>
            <a:gdLst/>
            <a:ahLst/>
            <a:rect l="l" t="t" r="r" b="b"/>
            <a:pathLst>
              <a:path w="7018715" h="807593">
                <a:moveTo>
                  <a:pt x="0" y="0"/>
                </a:moveTo>
                <a:lnTo>
                  <a:pt x="7018715" y="0"/>
                </a:lnTo>
                <a:lnTo>
                  <a:pt x="7018715" y="807593"/>
                </a:lnTo>
                <a:lnTo>
                  <a:pt x="0" y="8075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Freeform 3"/>
          <p:cNvSpPr/>
          <p:nvPr/>
        </p:nvSpPr>
        <p:spPr>
          <a:xfrm>
            <a:off x="637920" y="3308040"/>
            <a:ext cx="7017840" cy="1331280"/>
          </a:xfrm>
          <a:custGeom>
            <a:avLst/>
            <a:gdLst/>
            <a:ahLst/>
            <a:rect l="l" t="t" r="r" b="b"/>
            <a:pathLst>
              <a:path w="7018715" h="1331910">
                <a:moveTo>
                  <a:pt x="0" y="0"/>
                </a:moveTo>
                <a:lnTo>
                  <a:pt x="7018715" y="0"/>
                </a:lnTo>
                <a:lnTo>
                  <a:pt x="7018715" y="1331910"/>
                </a:lnTo>
                <a:lnTo>
                  <a:pt x="0" y="13319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Freeform 4"/>
          <p:cNvSpPr/>
          <p:nvPr/>
        </p:nvSpPr>
        <p:spPr>
          <a:xfrm>
            <a:off x="487800" y="5617440"/>
            <a:ext cx="7205760" cy="1036080"/>
          </a:xfrm>
          <a:custGeom>
            <a:avLst/>
            <a:gdLst/>
            <a:ahLst/>
            <a:rect l="l" t="t" r="r" b="b"/>
            <a:pathLst>
              <a:path w="7206637" h="1036744">
                <a:moveTo>
                  <a:pt x="0" y="0"/>
                </a:moveTo>
                <a:lnTo>
                  <a:pt x="7206638" y="0"/>
                </a:lnTo>
                <a:lnTo>
                  <a:pt x="7206638" y="1036745"/>
                </a:lnTo>
                <a:lnTo>
                  <a:pt x="0" y="10367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Freeform 5"/>
          <p:cNvSpPr/>
          <p:nvPr/>
        </p:nvSpPr>
        <p:spPr>
          <a:xfrm>
            <a:off x="331560" y="8012880"/>
            <a:ext cx="9303480" cy="2138760"/>
          </a:xfrm>
          <a:custGeom>
            <a:avLst/>
            <a:gdLst/>
            <a:ahLst/>
            <a:rect l="l" t="t" r="r" b="b"/>
            <a:pathLst>
              <a:path w="9304192" h="2139542">
                <a:moveTo>
                  <a:pt x="0" y="0"/>
                </a:moveTo>
                <a:lnTo>
                  <a:pt x="9304192" y="0"/>
                </a:lnTo>
                <a:lnTo>
                  <a:pt x="9304192" y="2139542"/>
                </a:lnTo>
                <a:lnTo>
                  <a:pt x="0" y="213954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Freeform 6"/>
          <p:cNvSpPr/>
          <p:nvPr/>
        </p:nvSpPr>
        <p:spPr>
          <a:xfrm>
            <a:off x="10074960" y="1467000"/>
            <a:ext cx="8312400" cy="5901480"/>
          </a:xfrm>
          <a:custGeom>
            <a:avLst/>
            <a:gdLst/>
            <a:ahLst/>
            <a:rect l="l" t="t" r="r" b="b"/>
            <a:pathLst>
              <a:path w="8313187" h="5902363">
                <a:moveTo>
                  <a:pt x="0" y="0"/>
                </a:moveTo>
                <a:lnTo>
                  <a:pt x="8313187" y="0"/>
                </a:lnTo>
                <a:lnTo>
                  <a:pt x="8313187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Box 7"/>
          <p:cNvSpPr/>
          <p:nvPr/>
        </p:nvSpPr>
        <p:spPr>
          <a:xfrm>
            <a:off x="10074960" y="8761680"/>
            <a:ext cx="8212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628"/>
              </a:lnSpc>
              <a:buNone/>
            </a:pPr>
            <a:r>
              <a:rPr b="0" lang="en-US" sz="1870" spc="-1" strike="noStrike">
                <a:solidFill>
                  <a:srgbClr val="000000"/>
                </a:solidFill>
                <a:latin typeface="Open Sans"/>
                <a:ea typeface="Open Sans"/>
              </a:rPr>
              <a:t>Efface les données du crash en mémoire pour préparer le prochain cycle."</a:t>
            </a:r>
            <a:endParaRPr b="0" lang="fr-FR" sz="1870" spc="-1" strike="noStrike">
              <a:latin typeface="Arial"/>
            </a:endParaRPr>
          </a:p>
        </p:txBody>
      </p:sp>
      <p:sp>
        <p:nvSpPr>
          <p:cNvPr id="145" name="AutoShape 8"/>
          <p:cNvSpPr/>
          <p:nvPr/>
        </p:nvSpPr>
        <p:spPr>
          <a:xfrm>
            <a:off x="10074960" y="0"/>
            <a:ext cx="360" cy="102870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Freeform 9"/>
          <p:cNvSpPr/>
          <p:nvPr/>
        </p:nvSpPr>
        <p:spPr>
          <a:xfrm>
            <a:off x="10513080" y="7807680"/>
            <a:ext cx="5862600" cy="627480"/>
          </a:xfrm>
          <a:custGeom>
            <a:avLst/>
            <a:gdLst/>
            <a:ahLst/>
            <a:rect l="l" t="t" r="r" b="b"/>
            <a:pathLst>
              <a:path w="5863397" h="628221">
                <a:moveTo>
                  <a:pt x="0" y="0"/>
                </a:moveTo>
                <a:lnTo>
                  <a:pt x="5863397" y="0"/>
                </a:lnTo>
                <a:lnTo>
                  <a:pt x="5863397" y="628222"/>
                </a:lnTo>
                <a:lnTo>
                  <a:pt x="0" y="6282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Box 10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12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0" y="1674360"/>
            <a:ext cx="914328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40"/>
              </a:lnSpc>
              <a:buNone/>
            </a:pPr>
            <a:r>
              <a:rPr b="1" lang="en-US" sz="2029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</a:t>
            </a:r>
            <a:r>
              <a:rPr b="1" lang="en-US" sz="2029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const CoreDumpData* dump = CoreDumpManager::Instance().Get();</a:t>
            </a:r>
            <a:endParaRPr b="0" lang="fr-FR" sz="2029" spc="-1" strike="noStrike"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637920" y="4803840"/>
            <a:ext cx="7206480" cy="9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509"/>
              </a:lnSpc>
              <a:buNone/>
            </a:pPr>
            <a:r>
              <a:rPr b="0" lang="en-US" sz="1790" spc="-1" strike="noStrike">
                <a:solidFill>
                  <a:srgbClr val="000000"/>
                </a:solidFill>
                <a:latin typeface="Open Sans"/>
                <a:ea typeface="Open Sans"/>
              </a:rPr>
              <a:t>Ça retourne soit l'adresse des données de crash, soit "rien" (nullptr).</a:t>
            </a:r>
            <a:endParaRPr b="0" lang="fr-FR" sz="1790" spc="-1" strike="noStrike">
              <a:latin typeface="Arial"/>
            </a:endParaRPr>
          </a:p>
          <a:p>
            <a:pPr algn="ctr">
              <a:lnSpc>
                <a:spcPts val="2509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0" y="206280"/>
            <a:ext cx="5518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 </a:t>
            </a:r>
            <a:r>
              <a:rPr b="1" lang="en-US" sz="20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Function HandlePreviousCrash() 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963360" y="6676560"/>
            <a:ext cx="867168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01760" indent="-200880">
              <a:lnSpc>
                <a:spcPts val="2605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6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 22:   ENABLE_JSON_EXPORT ? Dans Options.h :</a:t>
            </a:r>
            <a:endParaRPr b="0" lang="fr-FR" sz="1860" spc="-1" strike="noStrike">
              <a:latin typeface="Arial"/>
            </a:endParaRPr>
          </a:p>
          <a:p>
            <a:pPr>
              <a:lnSpc>
                <a:spcPts val="2605"/>
              </a:lnSpc>
              <a:buNone/>
            </a:pPr>
            <a:r>
              <a:rPr b="0" lang="en-US" sz="1860" spc="-1" strike="noStrike">
                <a:solidFill>
                  <a:srgbClr val="000000"/>
                </a:solidFill>
                <a:latin typeface="Open Sans"/>
                <a:ea typeface="Open Sans"/>
              </a:rPr>
              <a:t>Si l'option ENABLE_JSON_EXPORT est activée, alors exécute le code entre </a:t>
            </a:r>
            <a:endParaRPr b="0" lang="fr-FR" sz="1860" spc="-1" strike="noStrike">
              <a:latin typeface="Arial"/>
            </a:endParaRPr>
          </a:p>
          <a:p>
            <a:pPr>
              <a:lnSpc>
                <a:spcPts val="2605"/>
              </a:lnSpc>
              <a:buNone/>
            </a:pPr>
            <a:r>
              <a:rPr b="0" lang="en-US" sz="1860" spc="-1" strike="noStrike">
                <a:solidFill>
                  <a:srgbClr val="000000"/>
                </a:solidFill>
                <a:latin typeface="Open Sans"/>
                <a:ea typeface="Open Sans"/>
              </a:rPr>
              <a:t>#ifdef et #endif</a:t>
            </a:r>
            <a:endParaRPr b="0" lang="fr-FR" sz="1860" spc="-1" strike="noStrike"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11194560" y="679320"/>
            <a:ext cx="30362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Contenu de fichier JSON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1028880" y="797040"/>
            <a:ext cx="9045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31640" indent="-216000">
              <a:lnSpc>
                <a:spcPts val="2801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vérifie s'il y a un crash en mémoire,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reeform 2"/>
          <p:cNvSpPr/>
          <p:nvPr/>
        </p:nvSpPr>
        <p:spPr>
          <a:xfrm>
            <a:off x="773280" y="5942880"/>
            <a:ext cx="4003200" cy="3657600"/>
          </a:xfrm>
          <a:custGeom>
            <a:avLst/>
            <a:gdLst/>
            <a:ahLst/>
            <a:rect l="l" t="t" r="r" b="b"/>
            <a:pathLst>
              <a:path w="4004092" h="3658284">
                <a:moveTo>
                  <a:pt x="0" y="0"/>
                </a:moveTo>
                <a:lnTo>
                  <a:pt x="4004093" y="0"/>
                </a:lnTo>
                <a:lnTo>
                  <a:pt x="4004093" y="3658284"/>
                </a:lnTo>
                <a:lnTo>
                  <a:pt x="0" y="36582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Freeform 3"/>
          <p:cNvSpPr/>
          <p:nvPr/>
        </p:nvSpPr>
        <p:spPr>
          <a:xfrm>
            <a:off x="9144000" y="6466680"/>
            <a:ext cx="8941320" cy="2609640"/>
          </a:xfrm>
          <a:custGeom>
            <a:avLst/>
            <a:gdLst/>
            <a:ahLst/>
            <a:rect l="l" t="t" r="r" b="b"/>
            <a:pathLst>
              <a:path w="8942034" h="2610326">
                <a:moveTo>
                  <a:pt x="0" y="0"/>
                </a:moveTo>
                <a:lnTo>
                  <a:pt x="8942034" y="0"/>
                </a:lnTo>
                <a:lnTo>
                  <a:pt x="8942034" y="2610326"/>
                </a:lnTo>
                <a:lnTo>
                  <a:pt x="0" y="26103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Freeform 4"/>
          <p:cNvSpPr/>
          <p:nvPr/>
        </p:nvSpPr>
        <p:spPr>
          <a:xfrm>
            <a:off x="0" y="1531800"/>
            <a:ext cx="7948080" cy="3695760"/>
          </a:xfrm>
          <a:custGeom>
            <a:avLst/>
            <a:gdLst/>
            <a:ahLst/>
            <a:rect l="l" t="t" r="r" b="b"/>
            <a:pathLst>
              <a:path w="7948855" h="3696544">
                <a:moveTo>
                  <a:pt x="0" y="0"/>
                </a:moveTo>
                <a:lnTo>
                  <a:pt x="7948855" y="0"/>
                </a:lnTo>
                <a:lnTo>
                  <a:pt x="7948855" y="3696545"/>
                </a:lnTo>
                <a:lnTo>
                  <a:pt x="0" y="36965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Freeform 5"/>
          <p:cNvSpPr/>
          <p:nvPr/>
        </p:nvSpPr>
        <p:spPr>
          <a:xfrm>
            <a:off x="8691480" y="2585880"/>
            <a:ext cx="9137880" cy="2826720"/>
          </a:xfrm>
          <a:custGeom>
            <a:avLst/>
            <a:gdLst/>
            <a:ahLst/>
            <a:rect l="l" t="t" r="r" b="b"/>
            <a:pathLst>
              <a:path w="9138475" h="2827299">
                <a:moveTo>
                  <a:pt x="0" y="0"/>
                </a:moveTo>
                <a:lnTo>
                  <a:pt x="9138475" y="0"/>
                </a:lnTo>
                <a:lnTo>
                  <a:pt x="9138475" y="2827299"/>
                </a:lnTo>
                <a:lnTo>
                  <a:pt x="0" y="28272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Box 6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13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773280" y="443520"/>
            <a:ext cx="554328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CaptureSystemMetrics(&amp;data_.metrics);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773280" y="830160"/>
            <a:ext cx="5424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Capturer les métriques système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8691480" y="1484280"/>
            <a:ext cx="54244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Capturer la pile d'appels</a:t>
            </a:r>
            <a:endParaRPr b="0" lang="fr-FR" sz="2000" spc="-1" strike="noStrike">
              <a:latin typeface="Arial"/>
            </a:endParaRPr>
          </a:p>
          <a:p>
            <a:pPr algn="ctr">
              <a:lnSpc>
                <a:spcPts val="2801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9144000" y="368640"/>
            <a:ext cx="2660400" cy="11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CaptureCallStack() </a:t>
            </a:r>
            <a:endParaRPr b="0" lang="fr-FR" sz="2200" spc="-1" strike="noStrike">
              <a:latin typeface="Arial"/>
            </a:endParaRPr>
          </a:p>
          <a:p>
            <a:pPr algn="ctr">
              <a:lnSpc>
                <a:spcPts val="3078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63" name="AutoShape 11"/>
          <p:cNvSpPr/>
          <p:nvPr/>
        </p:nvSpPr>
        <p:spPr>
          <a:xfrm>
            <a:off x="8319960" y="0"/>
            <a:ext cx="360" cy="105562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Box 12"/>
          <p:cNvSpPr/>
          <p:nvPr/>
        </p:nvSpPr>
        <p:spPr>
          <a:xfrm>
            <a:off x="320760" y="99360"/>
            <a:ext cx="2087640" cy="8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20"/>
              </a:lnSpc>
              <a:buNone/>
            </a:pPr>
            <a:r>
              <a:rPr b="1" lang="en-US" sz="2300" spc="-1" strike="noStrike">
                <a:solidFill>
                  <a:srgbClr val="004aad"/>
                </a:solidFill>
                <a:latin typeface="Open Sans Bold"/>
                <a:ea typeface="Open Sans Bold"/>
              </a:rPr>
              <a:t>coredump.cpp</a:t>
            </a:r>
            <a:endParaRPr b="0" lang="fr-FR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 2"/>
          <p:cNvSpPr/>
          <p:nvPr/>
        </p:nvSpPr>
        <p:spPr>
          <a:xfrm>
            <a:off x="7254360" y="4476600"/>
            <a:ext cx="10609920" cy="5473080"/>
          </a:xfrm>
          <a:custGeom>
            <a:avLst/>
            <a:gdLst/>
            <a:ahLst/>
            <a:rect l="l" t="t" r="r" b="b"/>
            <a:pathLst>
              <a:path w="10610783" h="5473676">
                <a:moveTo>
                  <a:pt x="0" y="0"/>
                </a:moveTo>
                <a:lnTo>
                  <a:pt x="10610782" y="0"/>
                </a:lnTo>
                <a:lnTo>
                  <a:pt x="10610782" y="5473675"/>
                </a:lnTo>
                <a:lnTo>
                  <a:pt x="0" y="54736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Box 3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14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-276120" y="432720"/>
            <a:ext cx="14208840" cy="16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l179</a:t>
            </a:r>
            <a:endParaRPr b="0" lang="fr-FR" sz="2200" spc="-1" strike="noStrike">
              <a:latin typeface="Arial"/>
            </a:endParaRPr>
          </a:p>
          <a:p>
            <a:pPr algn="ctr">
              <a:lnSpc>
                <a:spcPts val="3359"/>
              </a:lnSpc>
              <a:buNone/>
            </a:pPr>
            <a:r>
              <a:rPr b="1" lang="en-US" sz="24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std::unique_ptr&lt;ICrashExporter&gt; CrashExporterFactory::Create(ExportFormat format)</a:t>
            </a:r>
            <a:endParaRPr b="0" lang="fr-FR" sz="2400" spc="-1" strike="noStrike">
              <a:latin typeface="Arial"/>
            </a:endParaRPr>
          </a:p>
          <a:p>
            <a:pPr algn="ctr">
              <a:lnSpc>
                <a:spcPts val="3078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10480" y="1548360"/>
            <a:ext cx="14872320" cy="31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Open Sans"/>
                <a:ea typeface="Open Sans"/>
              </a:rPr>
              <a:t>Créer automatiquement le bon exporteur (JSON ou CSV) selon le format demandé,</a:t>
            </a:r>
            <a:endParaRPr b="0" lang="fr-FR" sz="2200" spc="-1" strike="noStrike">
              <a:latin typeface="Arial"/>
            </a:endParaRPr>
          </a:p>
          <a:p>
            <a:pPr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Qu'est-ce qu'un unique_ptr ?</a:t>
            </a:r>
            <a:endParaRPr b="0" lang="fr-FR" sz="2200" spc="-1" strike="noStrike">
              <a:latin typeface="Arial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Open Sans"/>
                <a:ea typeface="Open Sans"/>
              </a:rPr>
              <a:t>"Un pointeur qui possède EXCLUSIVEMENT l'objet et le détruit automatiquement quand on n'en a plus besoin."</a:t>
            </a:r>
            <a:endParaRPr b="0" lang="fr-FR" sz="2200" spc="-1" strike="noStrike">
              <a:latin typeface="Arial"/>
            </a:endParaRPr>
          </a:p>
          <a:p>
            <a:pPr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Pourquoi &lt;ICrashExporter&gt; ?</a:t>
            </a:r>
            <a:endParaRPr b="0" lang="fr-FR" sz="2200" spc="-1" strike="noStrike">
              <a:latin typeface="Arial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Open Sans"/>
                <a:ea typeface="Open Sans"/>
              </a:rPr>
              <a:t>ICrashExporter est une interface</a:t>
            </a:r>
            <a:endParaRPr b="0" lang="fr-FR" sz="2200" spc="-1" strike="noStrike">
              <a:latin typeface="Arial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Open Sans"/>
                <a:ea typeface="Open Sans"/>
              </a:rPr>
              <a:t>ICrashExporter définit ce qu'un exporteur doit faire (Export(...))</a:t>
            </a:r>
            <a:endParaRPr b="0" lang="fr-FR" sz="2200" spc="-1" strike="noStrike">
              <a:latin typeface="Arial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Open Sans"/>
                <a:ea typeface="Open Sans"/>
              </a:rPr>
              <a:t>JsonCrashExporter et CsvCrashExporter implémentent cette interface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510480" y="5982480"/>
            <a:ext cx="5874480" cy="23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Vérifier si des données de crash VALIDES sont  sauvegardé en mémoire."</a:t>
            </a:r>
            <a:endParaRPr b="0" lang="fr-FR" sz="2200" spc="-1" strike="noStrike">
              <a:latin typeface="Arial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si return true Les données de crash sont VALIDES et peuvent être utilisées 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149400" y="4742640"/>
            <a:ext cx="1420884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2e7d32"/>
                </a:solidFill>
                <a:latin typeface="Open Sans Bold"/>
                <a:ea typeface="Open Sans Bold"/>
              </a:rPr>
              <a:t>IsSaved()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ts val="3078"/>
              </a:lnSpc>
              <a:buNone/>
            </a:pP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" name="Group 3"/>
          <p:cNvGrpSpPr/>
          <p:nvPr/>
        </p:nvGrpSpPr>
        <p:grpSpPr>
          <a:xfrm>
            <a:off x="3917880" y="1436400"/>
            <a:ext cx="10359720" cy="956880"/>
            <a:chOff x="3917880" y="1436400"/>
            <a:chExt cx="10359720" cy="956880"/>
          </a:xfrm>
        </p:grpSpPr>
        <p:sp>
          <p:nvSpPr>
            <p:cNvPr id="173" name="Freeform 4"/>
            <p:cNvSpPr/>
            <p:nvPr/>
          </p:nvSpPr>
          <p:spPr>
            <a:xfrm>
              <a:off x="3917880" y="1436400"/>
              <a:ext cx="10359720" cy="956880"/>
            </a:xfrm>
            <a:custGeom>
              <a:avLst/>
              <a:gdLst/>
              <a:ahLst/>
              <a:rect l="l" t="t" r="r" b="b"/>
              <a:pathLst>
                <a:path w="11131960" h="1028700">
                  <a:moveTo>
                    <a:pt x="0" y="0"/>
                  </a:moveTo>
                  <a:lnTo>
                    <a:pt x="11131960" y="0"/>
                  </a:lnTo>
                  <a:lnTo>
                    <a:pt x="1113196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4" name="Group 5"/>
          <p:cNvGrpSpPr/>
          <p:nvPr/>
        </p:nvGrpSpPr>
        <p:grpSpPr>
          <a:xfrm>
            <a:off x="3917880" y="1285920"/>
            <a:ext cx="9905400" cy="1107360"/>
            <a:chOff x="3917880" y="1285920"/>
            <a:chExt cx="9905400" cy="1107360"/>
          </a:xfrm>
        </p:grpSpPr>
        <p:sp>
          <p:nvSpPr>
            <p:cNvPr id="175" name="Freeform 6"/>
            <p:cNvSpPr/>
            <p:nvPr/>
          </p:nvSpPr>
          <p:spPr>
            <a:xfrm>
              <a:off x="3917880" y="1305360"/>
              <a:ext cx="9905400" cy="1087920"/>
            </a:xfrm>
            <a:custGeom>
              <a:avLst/>
              <a:gdLst/>
              <a:ahLst/>
              <a:rect l="l" t="t" r="r" b="b"/>
              <a:pathLst>
                <a:path w="9741961" h="1070483">
                  <a:moveTo>
                    <a:pt x="0" y="0"/>
                  </a:moveTo>
                  <a:lnTo>
                    <a:pt x="9741961" y="0"/>
                  </a:lnTo>
                  <a:lnTo>
                    <a:pt x="9741961" y="1070483"/>
                  </a:lnTo>
                  <a:lnTo>
                    <a:pt x="0" y="107048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TextBox 7"/>
            <p:cNvSpPr/>
            <p:nvPr/>
          </p:nvSpPr>
          <p:spPr>
            <a:xfrm>
              <a:off x="3917880" y="1285920"/>
              <a:ext cx="9905400" cy="110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701"/>
                </a:lnSpc>
                <a:buNone/>
              </a:pPr>
              <a:r>
                <a:rPr b="0" lang="en-US" sz="2250" spc="-1" strike="noStrike">
                  <a:solidFill>
                    <a:srgbClr val="8d6e63"/>
                  </a:solidFill>
                  <a:latin typeface="arial"/>
                  <a:ea typeface="arial"/>
                </a:rPr>
                <a:t>$ cd ~/Bureau/pfe/w07/CoreDump-main/pc_tools</a:t>
              </a:r>
              <a:endParaRPr b="0" lang="fr-FR" sz="2250" spc="-1" strike="noStrike">
                <a:latin typeface="Arial"/>
              </a:endParaRPr>
            </a:p>
            <a:p>
              <a:pPr>
                <a:lnSpc>
                  <a:spcPts val="2701"/>
                </a:lnSpc>
                <a:buNone/>
              </a:pPr>
              <a:r>
                <a:rPr b="0" lang="en-US" sz="2250" spc="-1" strike="noStrike">
                  <a:solidFill>
                    <a:srgbClr val="8d6e63"/>
                  </a:solidFill>
                  <a:latin typeface="arial"/>
                  <a:ea typeface="arial"/>
                </a:rPr>
                <a:t>$ python3 import_crash.py</a:t>
              </a:r>
              <a:endParaRPr b="0" lang="fr-FR" sz="2250" spc="-1" strike="noStrike">
                <a:latin typeface="Arial"/>
              </a:endParaRPr>
            </a:p>
          </p:txBody>
        </p:sp>
      </p:grpSp>
      <p:grpSp>
        <p:nvGrpSpPr>
          <p:cNvPr id="177" name="Group 8"/>
          <p:cNvGrpSpPr/>
          <p:nvPr/>
        </p:nvGrpSpPr>
        <p:grpSpPr>
          <a:xfrm>
            <a:off x="9921240" y="9281520"/>
            <a:ext cx="102240" cy="100080"/>
            <a:chOff x="9921240" y="9281520"/>
            <a:chExt cx="102240" cy="100080"/>
          </a:xfrm>
        </p:grpSpPr>
        <p:sp>
          <p:nvSpPr>
            <p:cNvPr id="178" name="Freeform 9"/>
            <p:cNvSpPr/>
            <p:nvPr/>
          </p:nvSpPr>
          <p:spPr>
            <a:xfrm>
              <a:off x="9921240" y="9281520"/>
              <a:ext cx="102240" cy="100080"/>
            </a:xfrm>
            <a:custGeom>
              <a:avLst/>
              <a:gdLst/>
              <a:ahLst/>
              <a:rect l="l" t="t" r="r" b="b"/>
              <a:pathLst>
                <a:path w="137160" h="134412">
                  <a:moveTo>
                    <a:pt x="137160" y="46620"/>
                  </a:moveTo>
                  <a:cubicBezTo>
                    <a:pt x="119380" y="121550"/>
                    <a:pt x="110490" y="127900"/>
                    <a:pt x="99060" y="131710"/>
                  </a:cubicBezTo>
                  <a:cubicBezTo>
                    <a:pt x="82550" y="136790"/>
                    <a:pt x="49530" y="134250"/>
                    <a:pt x="34290" y="127900"/>
                  </a:cubicBezTo>
                  <a:cubicBezTo>
                    <a:pt x="22860" y="122820"/>
                    <a:pt x="16510" y="112660"/>
                    <a:pt x="10160" y="103770"/>
                  </a:cubicBezTo>
                  <a:cubicBezTo>
                    <a:pt x="5080" y="94880"/>
                    <a:pt x="0" y="84720"/>
                    <a:pt x="0" y="72020"/>
                  </a:cubicBezTo>
                  <a:cubicBezTo>
                    <a:pt x="1270" y="55510"/>
                    <a:pt x="12700" y="25030"/>
                    <a:pt x="26670" y="12330"/>
                  </a:cubicBezTo>
                  <a:cubicBezTo>
                    <a:pt x="41910" y="900"/>
                    <a:pt x="74930" y="-1640"/>
                    <a:pt x="91440" y="900"/>
                  </a:cubicBezTo>
                  <a:cubicBezTo>
                    <a:pt x="102870" y="3440"/>
                    <a:pt x="119380" y="18680"/>
                    <a:pt x="119380" y="18680"/>
                  </a:cubicBezTo>
                </a:path>
              </a:pathLst>
            </a:custGeom>
            <a:solidFill>
              <a:srgbClr val="fff234">
                <a:alpha val="2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9" name="Group 10"/>
          <p:cNvGrpSpPr/>
          <p:nvPr/>
        </p:nvGrpSpPr>
        <p:grpSpPr>
          <a:xfrm>
            <a:off x="190800" y="-290520"/>
            <a:ext cx="27522720" cy="1394640"/>
            <a:chOff x="190800" y="-290520"/>
            <a:chExt cx="27522720" cy="1394640"/>
          </a:xfrm>
        </p:grpSpPr>
        <p:sp>
          <p:nvSpPr>
            <p:cNvPr id="180" name="Freeform 11"/>
            <p:cNvSpPr/>
            <p:nvPr/>
          </p:nvSpPr>
          <p:spPr>
            <a:xfrm>
              <a:off x="190800" y="-290520"/>
              <a:ext cx="27522720" cy="1394640"/>
            </a:xfrm>
            <a:custGeom>
              <a:avLst/>
              <a:gdLst/>
              <a:ahLst/>
              <a:rect l="l" t="t" r="r" b="b"/>
              <a:pathLst>
                <a:path w="36697921" h="1860497">
                  <a:moveTo>
                    <a:pt x="0" y="0"/>
                  </a:moveTo>
                  <a:lnTo>
                    <a:pt x="36697921" y="0"/>
                  </a:lnTo>
                  <a:lnTo>
                    <a:pt x="36697921" y="1860497"/>
                  </a:lnTo>
                  <a:lnTo>
                    <a:pt x="0" y="1860497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TextBox 12"/>
            <p:cNvSpPr/>
            <p:nvPr/>
          </p:nvSpPr>
          <p:spPr>
            <a:xfrm>
              <a:off x="190800" y="-283320"/>
              <a:ext cx="27522720" cy="138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300"/>
                </a:lnSpc>
                <a:buNone/>
              </a:pPr>
              <a:r>
                <a:rPr b="1" lang="en-US" sz="3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Étape  -Importation  des crashs </a:t>
              </a:r>
              <a:endParaRPr b="0" lang="fr-FR" sz="3000" spc="-1" strike="noStrike">
                <a:latin typeface="Arial"/>
              </a:endParaRPr>
            </a:p>
          </p:txBody>
        </p:sp>
      </p:grpSp>
      <p:grpSp>
        <p:nvGrpSpPr>
          <p:cNvPr id="182" name="Group 13"/>
          <p:cNvGrpSpPr/>
          <p:nvPr/>
        </p:nvGrpSpPr>
        <p:grpSpPr>
          <a:xfrm>
            <a:off x="4187520" y="2863440"/>
            <a:ext cx="12550680" cy="1572120"/>
            <a:chOff x="4187520" y="2863440"/>
            <a:chExt cx="12550680" cy="1572120"/>
          </a:xfrm>
        </p:grpSpPr>
        <p:sp>
          <p:nvSpPr>
            <p:cNvPr id="183" name="Freeform 14"/>
            <p:cNvSpPr/>
            <p:nvPr/>
          </p:nvSpPr>
          <p:spPr>
            <a:xfrm>
              <a:off x="4187520" y="2882880"/>
              <a:ext cx="12550680" cy="1552680"/>
            </a:xfrm>
            <a:custGeom>
              <a:avLst/>
              <a:gdLst/>
              <a:ahLst/>
              <a:rect l="l" t="t" r="r" b="b"/>
              <a:pathLst>
                <a:path w="12343416" h="1527683">
                  <a:moveTo>
                    <a:pt x="0" y="0"/>
                  </a:moveTo>
                  <a:lnTo>
                    <a:pt x="12343416" y="0"/>
                  </a:lnTo>
                  <a:lnTo>
                    <a:pt x="12343416" y="1527683"/>
                  </a:lnTo>
                  <a:lnTo>
                    <a:pt x="0" y="1527683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TextBox 15"/>
            <p:cNvSpPr/>
            <p:nvPr/>
          </p:nvSpPr>
          <p:spPr>
            <a:xfrm>
              <a:off x="4187520" y="2863440"/>
              <a:ext cx="12550680" cy="157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lvl="1" marL="485640" indent="-243000">
                <a:lnSpc>
                  <a:spcPts val="2701"/>
                </a:lnSpc>
                <a:buClr>
                  <a:srgbClr val="000000"/>
                </a:buClr>
                <a:buFont typeface="Arial"/>
                <a:buChar char="•"/>
              </a:pPr>
              <a:r>
                <a:rPr b="0" lang="en-US" sz="2250" spc="-1" strike="noStrike">
                  <a:solidFill>
                    <a:srgbClr val="000000"/>
                  </a:solidFill>
                  <a:latin typeface="arial"/>
                  <a:ea typeface="arial"/>
                </a:rPr>
                <a:t>Cette étape sert à transformer le rapport de crash (JSON) en </a:t>
              </a:r>
              <a:r>
                <a:rPr b="1" lang="en-US" sz="2250" spc="-1" strike="noStrike">
                  <a:solidFill>
                    <a:srgbClr val="000000"/>
                  </a:solidFill>
                  <a:latin typeface="Arimo Bold"/>
                  <a:ea typeface="Arimo Bold"/>
                </a:rPr>
                <a:t>données structurées</a:t>
              </a:r>
              <a:r>
                <a:rPr b="0" lang="en-US" sz="2250" spc="-1" strike="noStrike">
                  <a:solidFill>
                    <a:srgbClr val="000000"/>
                  </a:solidFill>
                  <a:latin typeface="arial"/>
                  <a:ea typeface="arial"/>
                </a:rPr>
                <a:t> dans une base SQLite, pour faciliter l’analyse, les recherches et le suivi des crashs.</a:t>
              </a:r>
              <a:endParaRPr b="0" lang="fr-FR" sz="2250" spc="-1" strike="noStrike">
                <a:latin typeface="Arial"/>
              </a:endParaRPr>
            </a:p>
          </p:txBody>
        </p:sp>
      </p:grpSp>
      <p:sp>
        <p:nvSpPr>
          <p:cNvPr id="185" name="Freeform 16"/>
          <p:cNvSpPr/>
          <p:nvPr/>
        </p:nvSpPr>
        <p:spPr>
          <a:xfrm>
            <a:off x="2392200" y="4769640"/>
            <a:ext cx="14866200" cy="3288600"/>
          </a:xfrm>
          <a:custGeom>
            <a:avLst/>
            <a:gdLst/>
            <a:ahLst/>
            <a:rect l="l" t="t" r="r" b="b"/>
            <a:pathLst>
              <a:path w="14867001" h="3289324">
                <a:moveTo>
                  <a:pt x="0" y="0"/>
                </a:moveTo>
                <a:lnTo>
                  <a:pt x="14867001" y="0"/>
                </a:lnTo>
                <a:lnTo>
                  <a:pt x="14867001" y="3289324"/>
                </a:lnTo>
                <a:lnTo>
                  <a:pt x="0" y="32893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Box 17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15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reeform 2"/>
          <p:cNvSpPr/>
          <p:nvPr/>
        </p:nvSpPr>
        <p:spPr>
          <a:xfrm>
            <a:off x="697320" y="3254760"/>
            <a:ext cx="8036640" cy="3776760"/>
          </a:xfrm>
          <a:custGeom>
            <a:avLst/>
            <a:gdLst/>
            <a:ahLst/>
            <a:rect l="l" t="t" r="r" b="b"/>
            <a:pathLst>
              <a:path w="8037222" h="3777494">
                <a:moveTo>
                  <a:pt x="0" y="0"/>
                </a:moveTo>
                <a:lnTo>
                  <a:pt x="8037221" y="0"/>
                </a:lnTo>
                <a:lnTo>
                  <a:pt x="8037221" y="3777494"/>
                </a:lnTo>
                <a:lnTo>
                  <a:pt x="0" y="37774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Freeform 3"/>
          <p:cNvSpPr/>
          <p:nvPr/>
        </p:nvSpPr>
        <p:spPr>
          <a:xfrm>
            <a:off x="10860120" y="536400"/>
            <a:ext cx="6688800" cy="4169160"/>
          </a:xfrm>
          <a:custGeom>
            <a:avLst/>
            <a:gdLst/>
            <a:ahLst/>
            <a:rect l="l" t="t" r="r" b="b"/>
            <a:pathLst>
              <a:path w="6689583" h="4170003">
                <a:moveTo>
                  <a:pt x="0" y="0"/>
                </a:moveTo>
                <a:lnTo>
                  <a:pt x="6689583" y="0"/>
                </a:lnTo>
                <a:lnTo>
                  <a:pt x="6689583" y="4170004"/>
                </a:lnTo>
                <a:lnTo>
                  <a:pt x="0" y="41700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Freeform 4"/>
          <p:cNvSpPr/>
          <p:nvPr/>
        </p:nvSpPr>
        <p:spPr>
          <a:xfrm>
            <a:off x="11431800" y="6244560"/>
            <a:ext cx="4394160" cy="1574640"/>
          </a:xfrm>
          <a:custGeom>
            <a:avLst/>
            <a:gdLst/>
            <a:ahLst/>
            <a:rect l="l" t="t" r="r" b="b"/>
            <a:pathLst>
              <a:path w="4394896" h="1575529">
                <a:moveTo>
                  <a:pt x="0" y="0"/>
                </a:moveTo>
                <a:lnTo>
                  <a:pt x="4394897" y="0"/>
                </a:lnTo>
                <a:lnTo>
                  <a:pt x="4394897" y="1575529"/>
                </a:lnTo>
                <a:lnTo>
                  <a:pt x="0" y="1575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Freeform 5"/>
          <p:cNvSpPr/>
          <p:nvPr/>
        </p:nvSpPr>
        <p:spPr>
          <a:xfrm>
            <a:off x="11431800" y="8077320"/>
            <a:ext cx="5264280" cy="1847520"/>
          </a:xfrm>
          <a:custGeom>
            <a:avLst/>
            <a:gdLst/>
            <a:ahLst/>
            <a:rect l="l" t="t" r="r" b="b"/>
            <a:pathLst>
              <a:path w="5264860" h="1848302">
                <a:moveTo>
                  <a:pt x="0" y="0"/>
                </a:moveTo>
                <a:lnTo>
                  <a:pt x="5264861" y="0"/>
                </a:lnTo>
                <a:lnTo>
                  <a:pt x="5264861" y="1848302"/>
                </a:lnTo>
                <a:lnTo>
                  <a:pt x="0" y="18483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Box 6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16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448920" y="679320"/>
            <a:ext cx="34156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Ligne 6 : Ajouter le chemin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697320" y="1388520"/>
            <a:ext cx="951264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 </a:t>
            </a:r>
            <a:r>
              <a:rPr b="1" lang="en-US" sz="2200" spc="-1" strike="noStrike">
                <a:solidFill>
                  <a:srgbClr val="000000"/>
                </a:solidFill>
                <a:latin typeface="Open Sans Bold"/>
                <a:ea typeface="Open Sans Bold"/>
              </a:rPr>
              <a:t>Permet d'importer database.py qui se trouve dans le même dossier.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11239920" y="5282280"/>
            <a:ext cx="564768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Résultat dans la base SQLite :</a:t>
            </a:r>
            <a:endParaRPr b="0" lang="fr-FR" sz="2000" spc="-1" strike="noStrike">
              <a:latin typeface="Arial"/>
            </a:endParaRPr>
          </a:p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Fichier créé : crash_dumps.db (s'il n'existait pas)</a:t>
            </a:r>
            <a:endParaRPr b="0" lang="fr-FR" sz="2000" spc="-1" strike="noStrike">
              <a:latin typeface="Arial"/>
            </a:endParaRPr>
          </a:p>
        </p:txBody>
      </p:sp>
      <p:grpSp>
        <p:nvGrpSpPr>
          <p:cNvPr id="195" name="Group 10"/>
          <p:cNvGrpSpPr/>
          <p:nvPr/>
        </p:nvGrpSpPr>
        <p:grpSpPr>
          <a:xfrm>
            <a:off x="302400" y="-366840"/>
            <a:ext cx="27522720" cy="1394640"/>
            <a:chOff x="302400" y="-366840"/>
            <a:chExt cx="27522720" cy="1394640"/>
          </a:xfrm>
        </p:grpSpPr>
        <p:sp>
          <p:nvSpPr>
            <p:cNvPr id="196" name="Freeform 11"/>
            <p:cNvSpPr/>
            <p:nvPr/>
          </p:nvSpPr>
          <p:spPr>
            <a:xfrm>
              <a:off x="302400" y="-366840"/>
              <a:ext cx="27522720" cy="1394640"/>
            </a:xfrm>
            <a:custGeom>
              <a:avLst/>
              <a:gdLst/>
              <a:ahLst/>
              <a:rect l="l" t="t" r="r" b="b"/>
              <a:pathLst>
                <a:path w="36697921" h="1860497">
                  <a:moveTo>
                    <a:pt x="0" y="0"/>
                  </a:moveTo>
                  <a:lnTo>
                    <a:pt x="36697921" y="0"/>
                  </a:lnTo>
                  <a:lnTo>
                    <a:pt x="36697921" y="1860497"/>
                  </a:lnTo>
                  <a:lnTo>
                    <a:pt x="0" y="1860497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TextBox 12"/>
            <p:cNvSpPr/>
            <p:nvPr/>
          </p:nvSpPr>
          <p:spPr>
            <a:xfrm>
              <a:off x="302400" y="-359640"/>
              <a:ext cx="27522720" cy="138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300"/>
                </a:lnSpc>
                <a:buNone/>
              </a:pPr>
              <a:r>
                <a:rPr b="1" lang="en-US" sz="3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Étape  -Fichier import_crash.py</a:t>
              </a:r>
              <a:endParaRPr b="0" lang="fr-FR" sz="3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99" name="Group 3"/>
          <p:cNvGrpSpPr/>
          <p:nvPr/>
        </p:nvGrpSpPr>
        <p:grpSpPr>
          <a:xfrm>
            <a:off x="1257480" y="2391840"/>
            <a:ext cx="7341840" cy="1150920"/>
            <a:chOff x="1257480" y="2391840"/>
            <a:chExt cx="7341840" cy="1150920"/>
          </a:xfrm>
        </p:grpSpPr>
        <p:sp>
          <p:nvSpPr>
            <p:cNvPr id="200" name="Freeform 4"/>
            <p:cNvSpPr/>
            <p:nvPr/>
          </p:nvSpPr>
          <p:spPr>
            <a:xfrm>
              <a:off x="1257480" y="2391840"/>
              <a:ext cx="7341840" cy="1150920"/>
            </a:xfrm>
            <a:custGeom>
              <a:avLst/>
              <a:gdLst/>
              <a:ahLst/>
              <a:rect l="l" t="t" r="r" b="b"/>
              <a:pathLst>
                <a:path w="8889776" h="1394320">
                  <a:moveTo>
                    <a:pt x="0" y="0"/>
                  </a:moveTo>
                  <a:lnTo>
                    <a:pt x="8889776" y="0"/>
                  </a:lnTo>
                  <a:lnTo>
                    <a:pt x="8889776" y="1394320"/>
                  </a:lnTo>
                  <a:lnTo>
                    <a:pt x="0" y="139432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1" name="Group 5"/>
          <p:cNvGrpSpPr/>
          <p:nvPr/>
        </p:nvGrpSpPr>
        <p:grpSpPr>
          <a:xfrm>
            <a:off x="446760" y="423720"/>
            <a:ext cx="27522720" cy="879480"/>
            <a:chOff x="446760" y="423720"/>
            <a:chExt cx="27522720" cy="879480"/>
          </a:xfrm>
        </p:grpSpPr>
        <p:sp>
          <p:nvSpPr>
            <p:cNvPr id="202" name="Freeform 6"/>
            <p:cNvSpPr/>
            <p:nvPr/>
          </p:nvSpPr>
          <p:spPr>
            <a:xfrm>
              <a:off x="446760" y="423720"/>
              <a:ext cx="27522720" cy="879120"/>
            </a:xfrm>
            <a:custGeom>
              <a:avLst/>
              <a:gdLst/>
              <a:ahLst/>
              <a:rect l="l" t="t" r="r" b="b"/>
              <a:pathLst>
                <a:path w="36697921" h="1173354">
                  <a:moveTo>
                    <a:pt x="0" y="0"/>
                  </a:moveTo>
                  <a:lnTo>
                    <a:pt x="36697921" y="0"/>
                  </a:lnTo>
                  <a:lnTo>
                    <a:pt x="36697921" y="1173354"/>
                  </a:lnTo>
                  <a:lnTo>
                    <a:pt x="0" y="117335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TextBox 7"/>
            <p:cNvSpPr/>
            <p:nvPr/>
          </p:nvSpPr>
          <p:spPr>
            <a:xfrm>
              <a:off x="446760" y="430920"/>
              <a:ext cx="27522720" cy="87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300"/>
                </a:lnSpc>
                <a:buNone/>
              </a:pPr>
              <a:r>
                <a:rPr b="1" lang="en-US" sz="3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Étape 3: Dashboard</a:t>
              </a:r>
              <a:endParaRPr b="0" lang="fr-FR" sz="3000" spc="-1" strike="noStrike">
                <a:latin typeface="Arial"/>
              </a:endParaRPr>
            </a:p>
          </p:txBody>
        </p:sp>
      </p:grpSp>
      <p:grpSp>
        <p:nvGrpSpPr>
          <p:cNvPr id="204" name="Group 8"/>
          <p:cNvGrpSpPr/>
          <p:nvPr/>
        </p:nvGrpSpPr>
        <p:grpSpPr>
          <a:xfrm>
            <a:off x="1257480" y="1464840"/>
            <a:ext cx="10286280" cy="683640"/>
            <a:chOff x="1257480" y="1464840"/>
            <a:chExt cx="10286280" cy="683640"/>
          </a:xfrm>
        </p:grpSpPr>
        <p:sp>
          <p:nvSpPr>
            <p:cNvPr id="205" name="Freeform 9"/>
            <p:cNvSpPr/>
            <p:nvPr/>
          </p:nvSpPr>
          <p:spPr>
            <a:xfrm>
              <a:off x="1257480" y="1557720"/>
              <a:ext cx="10286280" cy="590760"/>
            </a:xfrm>
            <a:custGeom>
              <a:avLst/>
              <a:gdLst/>
              <a:ahLst/>
              <a:rect l="l" t="t" r="r" b="b"/>
              <a:pathLst>
                <a:path w="13716000" h="788784">
                  <a:moveTo>
                    <a:pt x="0" y="0"/>
                  </a:moveTo>
                  <a:lnTo>
                    <a:pt x="13716000" y="0"/>
                  </a:lnTo>
                  <a:lnTo>
                    <a:pt x="13716000" y="788784"/>
                  </a:lnTo>
                  <a:lnTo>
                    <a:pt x="0" y="78878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TextBox 10"/>
            <p:cNvSpPr/>
            <p:nvPr/>
          </p:nvSpPr>
          <p:spPr>
            <a:xfrm>
              <a:off x="1257480" y="1464840"/>
              <a:ext cx="10286280" cy="68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320"/>
                </a:lnSpc>
                <a:buNone/>
              </a:pPr>
              <a:r>
                <a:rPr b="1" lang="en-US" sz="2700" spc="-1" strike="noStrike">
                  <a:solidFill>
                    <a:srgbClr val="5d4037"/>
                  </a:solidFill>
                  <a:latin typeface="Arimo Bold"/>
                  <a:ea typeface="Arimo Bold"/>
                </a:rPr>
                <a:t>Commande :</a:t>
              </a:r>
              <a:endParaRPr b="0" lang="fr-FR" sz="2700" spc="-1" strike="noStrike">
                <a:latin typeface="Arial"/>
              </a:endParaRPr>
            </a:p>
          </p:txBody>
        </p:sp>
      </p:grpSp>
      <p:grpSp>
        <p:nvGrpSpPr>
          <p:cNvPr id="207" name="Group 11"/>
          <p:cNvGrpSpPr/>
          <p:nvPr/>
        </p:nvGrpSpPr>
        <p:grpSpPr>
          <a:xfrm>
            <a:off x="1468440" y="2552040"/>
            <a:ext cx="7377840" cy="1159200"/>
            <a:chOff x="1468440" y="2552040"/>
            <a:chExt cx="7377840" cy="1159200"/>
          </a:xfrm>
        </p:grpSpPr>
        <p:sp>
          <p:nvSpPr>
            <p:cNvPr id="208" name="Freeform 12"/>
            <p:cNvSpPr/>
            <p:nvPr/>
          </p:nvSpPr>
          <p:spPr>
            <a:xfrm>
              <a:off x="1468440" y="2566080"/>
              <a:ext cx="7377840" cy="1145160"/>
            </a:xfrm>
            <a:custGeom>
              <a:avLst/>
              <a:gdLst/>
              <a:ahLst/>
              <a:rect l="l" t="t" r="r" b="b"/>
              <a:pathLst>
                <a:path w="9838274" h="1527683">
                  <a:moveTo>
                    <a:pt x="0" y="0"/>
                  </a:moveTo>
                  <a:lnTo>
                    <a:pt x="9838274" y="0"/>
                  </a:lnTo>
                  <a:lnTo>
                    <a:pt x="9838274" y="1527683"/>
                  </a:lnTo>
                  <a:lnTo>
                    <a:pt x="0" y="1527683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TextBox 13"/>
            <p:cNvSpPr/>
            <p:nvPr/>
          </p:nvSpPr>
          <p:spPr>
            <a:xfrm>
              <a:off x="1468440" y="2552040"/>
              <a:ext cx="7377840" cy="115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701"/>
                </a:lnSpc>
                <a:buNone/>
              </a:pPr>
              <a:r>
                <a:rPr b="0" lang="en-US" sz="2250" spc="-1" strike="noStrike">
                  <a:solidFill>
                    <a:srgbClr val="8d6e63"/>
                  </a:solidFill>
                  <a:latin typeface="arial"/>
                  <a:ea typeface="arial"/>
                </a:rPr>
                <a:t>cd ~/Bureau/pfe/w07/CoreDump-main/web-dashboard</a:t>
              </a:r>
              <a:endParaRPr b="0" lang="fr-FR" sz="2250" spc="-1" strike="noStrike">
                <a:latin typeface="Arial"/>
              </a:endParaRPr>
            </a:p>
            <a:p>
              <a:pPr>
                <a:lnSpc>
                  <a:spcPts val="2701"/>
                </a:lnSpc>
                <a:buNone/>
              </a:pPr>
              <a:r>
                <a:rPr b="0" lang="en-US" sz="2250" spc="-1" strike="noStrike">
                  <a:solidFill>
                    <a:srgbClr val="8d6e63"/>
                  </a:solidFill>
                  <a:latin typeface="arial"/>
                  <a:ea typeface="arial"/>
                </a:rPr>
                <a:t>streamlit run app.py</a:t>
              </a:r>
              <a:endParaRPr b="0" lang="fr-FR" sz="2250" spc="-1" strike="noStrike">
                <a:latin typeface="Arial"/>
              </a:endParaRPr>
            </a:p>
            <a:p>
              <a:pPr>
                <a:lnSpc>
                  <a:spcPts val="2701"/>
                </a:lnSpc>
                <a:buNone/>
              </a:pPr>
              <a:endParaRPr b="0" lang="fr-FR" sz="1800" spc="-1" strike="noStrike">
                <a:latin typeface="Arial"/>
              </a:endParaRPr>
            </a:p>
          </p:txBody>
        </p:sp>
      </p:grpSp>
      <p:sp>
        <p:nvSpPr>
          <p:cNvPr id="210" name="Freeform 14"/>
          <p:cNvSpPr/>
          <p:nvPr/>
        </p:nvSpPr>
        <p:spPr>
          <a:xfrm>
            <a:off x="8847000" y="2323440"/>
            <a:ext cx="9280800" cy="1219320"/>
          </a:xfrm>
          <a:custGeom>
            <a:avLst/>
            <a:gdLst/>
            <a:ahLst/>
            <a:rect l="l" t="t" r="r" b="b"/>
            <a:pathLst>
              <a:path w="9281686" h="1219936">
                <a:moveTo>
                  <a:pt x="0" y="0"/>
                </a:moveTo>
                <a:lnTo>
                  <a:pt x="9281686" y="0"/>
                </a:lnTo>
                <a:lnTo>
                  <a:pt x="9281686" y="1219936"/>
                </a:lnTo>
                <a:lnTo>
                  <a:pt x="0" y="1219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Freeform 15"/>
          <p:cNvSpPr/>
          <p:nvPr/>
        </p:nvSpPr>
        <p:spPr>
          <a:xfrm>
            <a:off x="2435040" y="3711960"/>
            <a:ext cx="11300400" cy="6285600"/>
          </a:xfrm>
          <a:custGeom>
            <a:avLst/>
            <a:gdLst/>
            <a:ahLst/>
            <a:rect l="l" t="t" r="r" b="b"/>
            <a:pathLst>
              <a:path w="11301259" h="6286325">
                <a:moveTo>
                  <a:pt x="0" y="0"/>
                </a:moveTo>
                <a:lnTo>
                  <a:pt x="11301259" y="0"/>
                </a:lnTo>
                <a:lnTo>
                  <a:pt x="11301259" y="6286325"/>
                </a:lnTo>
                <a:lnTo>
                  <a:pt x="0" y="62863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Box 16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17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/>
            <a:ah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14" name="Group 3"/>
          <p:cNvGrpSpPr/>
          <p:nvPr/>
        </p:nvGrpSpPr>
        <p:grpSpPr>
          <a:xfrm>
            <a:off x="786240" y="1018800"/>
            <a:ext cx="17830080" cy="10286280"/>
            <a:chOff x="786240" y="1018800"/>
            <a:chExt cx="17830080" cy="10286280"/>
          </a:xfrm>
        </p:grpSpPr>
        <p:sp>
          <p:nvSpPr>
            <p:cNvPr id="215" name="Freeform 4"/>
            <p:cNvSpPr/>
            <p:nvPr/>
          </p:nvSpPr>
          <p:spPr>
            <a:xfrm>
              <a:off x="786240" y="1018800"/>
              <a:ext cx="17830080" cy="10286280"/>
            </a:xfrm>
            <a:custGeom>
              <a:avLst/>
              <a:gdLst/>
              <a:ahLst/>
              <a:rect l="l" t="t" r="r" b="b"/>
              <a:pathLst>
                <a:path w="23774400" h="13716000">
                  <a:moveTo>
                    <a:pt x="0" y="0"/>
                  </a:moveTo>
                  <a:lnTo>
                    <a:pt x="23774400" y="0"/>
                  </a:lnTo>
                  <a:lnTo>
                    <a:pt x="23774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16" name="Group 5"/>
          <p:cNvGrpSpPr/>
          <p:nvPr/>
        </p:nvGrpSpPr>
        <p:grpSpPr>
          <a:xfrm>
            <a:off x="4846320" y="5143680"/>
            <a:ext cx="26882640" cy="1018080"/>
            <a:chOff x="4846320" y="5143680"/>
            <a:chExt cx="26882640" cy="1018080"/>
          </a:xfrm>
        </p:grpSpPr>
        <p:sp>
          <p:nvSpPr>
            <p:cNvPr id="217" name="Freeform 6"/>
            <p:cNvSpPr/>
            <p:nvPr/>
          </p:nvSpPr>
          <p:spPr>
            <a:xfrm>
              <a:off x="4846320" y="5143680"/>
              <a:ext cx="26882640" cy="1018080"/>
            </a:xfrm>
            <a:custGeom>
              <a:avLst/>
              <a:gdLst/>
              <a:ahLst/>
              <a:rect l="l" t="t" r="r" b="b"/>
              <a:pathLst>
                <a:path w="35844479" h="1358610">
                  <a:moveTo>
                    <a:pt x="0" y="0"/>
                  </a:moveTo>
                  <a:lnTo>
                    <a:pt x="35844479" y="0"/>
                  </a:lnTo>
                  <a:lnTo>
                    <a:pt x="35844479" y="1358610"/>
                  </a:lnTo>
                  <a:lnTo>
                    <a:pt x="0" y="135861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TextBox 7"/>
            <p:cNvSpPr/>
            <p:nvPr/>
          </p:nvSpPr>
          <p:spPr>
            <a:xfrm>
              <a:off x="4846320" y="5164920"/>
              <a:ext cx="26882640" cy="99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5499"/>
                </a:lnSpc>
                <a:buNone/>
              </a:pPr>
              <a:r>
                <a:rPr b="1" lang="en-US" sz="5000" spc="-1" strike="noStrike">
                  <a:solidFill>
                    <a:srgbClr val="2e7d32"/>
                  </a:solidFill>
                  <a:latin typeface="Arimo Bold"/>
                  <a:ea typeface="Arimo Bold"/>
                </a:rPr>
                <a:t>Merci de votre attention</a:t>
              </a:r>
              <a:endParaRPr b="0" lang="fr-FR" sz="5000" spc="-1" strike="noStrike">
                <a:latin typeface="Arial"/>
              </a:endParaRPr>
            </a:p>
          </p:txBody>
        </p:sp>
      </p:grpSp>
      <p:sp>
        <p:nvSpPr>
          <p:cNvPr id="219" name="TextBox 8"/>
          <p:cNvSpPr/>
          <p:nvPr/>
        </p:nvSpPr>
        <p:spPr>
          <a:xfrm>
            <a:off x="17174160" y="9210600"/>
            <a:ext cx="3225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ts val="2801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18</a:t>
            </a:r>
            <a:endParaRPr b="0" lang="fr-F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DAHEwyrPbj4</dc:identifier>
  <dc:language>fr-FR</dc:language>
  <cp:lastModifiedBy/>
  <dcterms:modified xsi:type="dcterms:W3CDTF">2011-08-01T06:04:30Z</dcterms:modified>
  <cp:revision>1</cp:revision>
  <dc:subject/>
  <dc:title>w08.pptx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